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0" r:id="rId6"/>
    <p:sldId id="264" r:id="rId7"/>
    <p:sldId id="259" r:id="rId8"/>
    <p:sldId id="266" r:id="rId9"/>
    <p:sldId id="267" r:id="rId10"/>
    <p:sldId id="261" r:id="rId11"/>
    <p:sldId id="262" r:id="rId12"/>
    <p:sldId id="269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6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D4E-4C1F-A64E-057F14AED096}"/>
              </c:ext>
            </c:extLst>
          </c:dPt>
          <c:dLbls>
            <c:numFmt formatCode="#,##0_);\(#,##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EDA!$A$2:$A$3</c:f>
              <c:strCache>
                <c:ptCount val="2"/>
                <c:pt idx="0">
                  <c:v>Fraud</c:v>
                </c:pt>
                <c:pt idx="1">
                  <c:v>Legitimate</c:v>
                </c:pt>
              </c:strCache>
            </c:strRef>
          </c:cat>
          <c:val>
            <c:numRef>
              <c:f>EDA!$B$2:$B$3</c:f>
              <c:numCache>
                <c:formatCode>General</c:formatCode>
                <c:ptCount val="2"/>
                <c:pt idx="0">
                  <c:v>3362</c:v>
                </c:pt>
                <c:pt idx="1">
                  <c:v>122648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E-4C1F-A64E-057F14AED09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829757248"/>
        <c:axId val="1516356320"/>
      </c:barChart>
      <c:catAx>
        <c:axId val="18297572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6356320"/>
        <c:crosses val="autoZero"/>
        <c:auto val="1"/>
        <c:lblAlgn val="ctr"/>
        <c:lblOffset val="100"/>
        <c:noMultiLvlLbl val="0"/>
      </c:catAx>
      <c:valAx>
        <c:axId val="1516356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8297572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by merchant category</c:v>
                </c:pt>
              </c:strCache>
            </c:strRef>
          </c:tx>
          <c:spPr>
            <a:solidFill>
              <a:srgbClr val="E15B4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7E81-4EDD-B325-81155A306AA6}"/>
              </c:ext>
            </c:extLst>
          </c:dPt>
          <c:dPt>
            <c:idx val="1"/>
            <c:invertIfNegative val="0"/>
            <c:bubble3D val="0"/>
            <c:spPr>
              <a:solidFill>
                <a:srgbClr val="C00000">
                  <a:alpha val="82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E81-4EDD-B325-81155A306AA6}"/>
              </c:ext>
            </c:extLst>
          </c:dPt>
          <c:dPt>
            <c:idx val="2"/>
            <c:invertIfNegative val="0"/>
            <c:bubble3D val="0"/>
            <c:spPr>
              <a:solidFill>
                <a:srgbClr val="C00000">
                  <a:alpha val="71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7E81-4EDD-B325-81155A306AA6}"/>
              </c:ext>
            </c:extLst>
          </c:dPt>
          <c:dPt>
            <c:idx val="3"/>
            <c:invertIfNegative val="0"/>
            <c:bubble3D val="0"/>
            <c:spPr>
              <a:solidFill>
                <a:srgbClr val="C00000">
                  <a:alpha val="63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E81-4EDD-B325-81155A306AA6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>
                  <a:alpha val="55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7E81-4EDD-B325-81155A306AA6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>
                  <a:alpha val="40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E81-4EDD-B325-81155A306AA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Wire Transfer</c:v>
                </c:pt>
                <c:pt idx="1">
                  <c:v>Payroll Transfer</c:v>
                </c:pt>
                <c:pt idx="2">
                  <c:v>Crypto Exchange</c:v>
                </c:pt>
                <c:pt idx="3">
                  <c:v>Travel</c:v>
                </c:pt>
                <c:pt idx="4">
                  <c:v>P2P Transfer</c:v>
                </c:pt>
                <c:pt idx="5">
                  <c:v>Insurance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7.58</c:v>
                </c:pt>
                <c:pt idx="1">
                  <c:v>5.59</c:v>
                </c:pt>
                <c:pt idx="2">
                  <c:v>5.2</c:v>
                </c:pt>
                <c:pt idx="3">
                  <c:v>2.79</c:v>
                </c:pt>
                <c:pt idx="4">
                  <c:v>2.54</c:v>
                </c:pt>
                <c:pt idx="5">
                  <c:v>2.34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2B-4B10-8024-475CA718BB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feature importance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>
                  <a:alpha val="62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E6B-4968-A837-182927F20482}"/>
              </c:ext>
            </c:extLst>
          </c:dPt>
          <c:dPt>
            <c:idx val="1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DE6B-4968-A837-182927F2048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E6B-4968-A837-182927F2048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DE6B-4968-A837-182927F20482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75000"/>
                  <a:lumOff val="2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E6B-4968-A837-182927F20482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>
                  <a:lumMod val="90000"/>
                  <a:lumOff val="10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DE6B-4968-A837-182927F20482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Wire Transfer category</c:v>
                </c:pt>
                <c:pt idx="1">
                  <c:v>Payroll Transfer category</c:v>
                </c:pt>
                <c:pt idx="2">
                  <c:v>Hour of day</c:v>
                </c:pt>
                <c:pt idx="3">
                  <c:v>Account age</c:v>
                </c:pt>
                <c:pt idx="4">
                  <c:v>Amount vs. account baseline</c:v>
                </c:pt>
                <c:pt idx="5">
                  <c:v>Transaction velocity (1h)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2.2000000000000002</c:v>
                </c:pt>
                <c:pt idx="1">
                  <c:v>3.1</c:v>
                </c:pt>
                <c:pt idx="2">
                  <c:v>3.5</c:v>
                </c:pt>
                <c:pt idx="3">
                  <c:v>4.5</c:v>
                </c:pt>
                <c:pt idx="4">
                  <c:v>38</c:v>
                </c:pt>
                <c:pt idx="5">
                  <c:v>40.299999999999997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8D-4D41-88E7-1485EA7E2E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1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chemeClr val="tx2">
                <a:lumMod val="75000"/>
                <a:lumOff val="2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1"/>
              <c:layout>
                <c:manualLayout>
                  <c:x val="0"/>
                  <c:y val="1.3888888888888805E-2"/>
                </c:manualLayout>
              </c:layout>
              <c:numFmt formatCode="0.00%" sourceLinked="0"/>
              <c:spPr>
                <a:solidFill>
                  <a:sysClr val="window" lastClr="FFFFFF"/>
                </a:solidFill>
                <a:ln>
                  <a:solidFill>
                    <a:sysClr val="windowText" lastClr="000000">
                      <a:lumMod val="25000"/>
                      <a:lumOff val="75000"/>
                    </a:sys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0-4A0D-40E3-A0ED-34D318AA2A78}"/>
                </c:ext>
              </c:extLst>
            </c:dLbl>
            <c:dLbl>
              <c:idx val="3"/>
              <c:numFmt formatCode="0.00%" sourceLinked="0"/>
              <c:spPr>
                <a:solidFill>
                  <a:sysClr val="window" lastClr="FFFFFF"/>
                </a:solidFill>
                <a:ln>
                  <a:solidFill>
                    <a:sysClr val="windowText" lastClr="000000">
                      <a:lumMod val="25000"/>
                      <a:lumOff val="75000"/>
                    </a:sys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1-4A0D-40E3-A0ED-34D318AA2A78}"/>
                </c:ext>
              </c:extLst>
            </c:dLbl>
            <c:dLbl>
              <c:idx val="4"/>
              <c:layout>
                <c:manualLayout>
                  <c:x val="-8.3333333333333332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A0D-40E3-A0ED-34D318AA2A78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Sheet1!$C$1:$G$1</c:f>
              <c:strCache>
                <c:ptCount val="5"/>
                <c:pt idx="0">
                  <c:v>Accuracy</c:v>
                </c:pt>
                <c:pt idx="1">
                  <c:v>Precison</c:v>
                </c:pt>
                <c:pt idx="2">
                  <c:v>Recall</c:v>
                </c:pt>
                <c:pt idx="3">
                  <c:v>F1_Score</c:v>
                </c:pt>
                <c:pt idx="4">
                  <c:v>ROC_AUC</c:v>
                </c:pt>
              </c:strCache>
            </c:strRef>
          </c:cat>
          <c:val>
            <c:numRef>
              <c:f>Sheet1!$C$2:$G$2</c:f>
              <c:numCache>
                <c:formatCode>General</c:formatCode>
                <c:ptCount val="5"/>
                <c:pt idx="0">
                  <c:v>0.96</c:v>
                </c:pt>
                <c:pt idx="1">
                  <c:v>0.38200000000000001</c:v>
                </c:pt>
                <c:pt idx="2">
                  <c:v>0.79900000000000004</c:v>
                </c:pt>
                <c:pt idx="3">
                  <c:v>0.51700000000000002</c:v>
                </c:pt>
                <c:pt idx="4">
                  <c:v>0.93400000000000005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A0D-40E3-A0ED-34D318AA2A78}"/>
            </c:ext>
          </c:extLst>
        </c:ser>
        <c:ser>
          <c:idx val="1"/>
          <c:order val="1"/>
          <c:tx>
            <c:strRef>
              <c:f>Sheet1!$B$3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dLbl>
              <c:idx val="1"/>
              <c:numFmt formatCode="0.00%" sourceLinked="0"/>
              <c:spPr>
                <a:solidFill>
                  <a:sysClr val="window" lastClr="FFFFFF"/>
                </a:solidFill>
                <a:ln>
                  <a:solidFill>
                    <a:sysClr val="windowText" lastClr="000000">
                      <a:lumMod val="25000"/>
                      <a:lumOff val="75000"/>
                    </a:sys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4-4A0D-40E3-A0ED-34D318AA2A78}"/>
                </c:ext>
              </c:extLst>
            </c:dLbl>
            <c:dLbl>
              <c:idx val="3"/>
              <c:numFmt formatCode="0.00%" sourceLinked="0"/>
              <c:spPr>
                <a:solidFill>
                  <a:sysClr val="window" lastClr="FFFFFF"/>
                </a:solidFill>
                <a:ln>
                  <a:solidFill>
                    <a:sysClr val="windowText" lastClr="000000">
                      <a:lumMod val="25000"/>
                      <a:lumOff val="75000"/>
                    </a:sys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4A0D-40E3-A0ED-34D318AA2A78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Sheet1!$C$1:$G$1</c:f>
              <c:strCache>
                <c:ptCount val="5"/>
                <c:pt idx="0">
                  <c:v>Accuracy</c:v>
                </c:pt>
                <c:pt idx="1">
                  <c:v>Precison</c:v>
                </c:pt>
                <c:pt idx="2">
                  <c:v>Recall</c:v>
                </c:pt>
                <c:pt idx="3">
                  <c:v>F1_Score</c:v>
                </c:pt>
                <c:pt idx="4">
                  <c:v>ROC_AUC</c:v>
                </c:pt>
              </c:strCache>
            </c:strRef>
          </c:cat>
          <c:val>
            <c:numRef>
              <c:f>Sheet1!$C$3:$G$3</c:f>
              <c:numCache>
                <c:formatCode>General</c:formatCode>
                <c:ptCount val="5"/>
                <c:pt idx="0">
                  <c:v>0.94699999999999995</c:v>
                </c:pt>
                <c:pt idx="1">
                  <c:v>0.311</c:v>
                </c:pt>
                <c:pt idx="2">
                  <c:v>0.82499999999999996</c:v>
                </c:pt>
                <c:pt idx="3">
                  <c:v>0.4521</c:v>
                </c:pt>
                <c:pt idx="4">
                  <c:v>0.93200000000000005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A0D-40E3-A0ED-34D318AA2A7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93608911"/>
        <c:axId val="698411839"/>
      </c:barChart>
      <c:catAx>
        <c:axId val="10936089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98411839"/>
        <c:crosses val="autoZero"/>
        <c:auto val="1"/>
        <c:lblAlgn val="ctr"/>
        <c:lblOffset val="100"/>
        <c:noMultiLvlLbl val="0"/>
      </c:catAx>
      <c:valAx>
        <c:axId val="69841183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936089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0001574803149591"/>
          <c:y val="3.2985564304461902E-2"/>
          <c:w val="0.26941294838145224"/>
          <c:h val="0.124421843102945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50FB7-54E4-71C4-2613-EDE90714E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249698-3ACC-AA45-FD89-E7C708B68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50E0-8C3D-4D43-874E-616B8B475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3EA23-2971-33E5-DC53-6EA95BED7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CC7A4-234E-43F0-9B16-177C1A0A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412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F8CDF-26C4-9B62-6BE2-7D11C99FB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B0516-E190-4A07-A4FE-546FD77E4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84F4F-FC3B-501C-1FB6-41FC9C70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BFF67-5262-921C-01D2-446C2BE80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67A06-2599-E189-D48E-9E9E95BB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871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E1C47-C2DC-7649-346A-22D6AD2F6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189E93-C553-5735-65F4-027E094C7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66EBB-C07A-76F5-2600-B4FAEBEB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F9807-4AA5-594E-E2AB-EEBA5E49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3D995-E9D1-730B-636F-95356B0D7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465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ECE51-7746-2A2C-8977-0AB60A82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6F71B-B22D-12D9-0853-F0F57E05F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0B0EF-B6FC-B5ED-0415-91F431729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CF79C8-E004-5A41-D60B-52338CC33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3E8DC-9F85-9BB3-A130-26637B05D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D0BC72-D4CF-9C31-DA7E-C26B0122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205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675FC-090F-2210-585C-20CE577F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4E743-54EB-9A30-6147-E5BDEFB712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AB214-D9A4-A06E-8408-B788A4A8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006615-8ACA-89E3-03D7-437FE1EF47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2C9300-9D26-22CC-671C-76A58D912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462316-C71E-3B49-4768-B930E53D8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C2BA5B-2BD8-F91B-27C5-893BE5D1D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C1BE6D-03B8-7594-DF69-A659EB492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4776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3114-225A-4E81-3A10-54129004F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34FF6-BD14-4C88-961A-02810C5B3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8A2FF4-EBC6-0D99-774F-0B47F1D17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06DB58-E9EC-3F3D-5433-1AE93657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0977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AE25D4-BA19-DC65-A523-5C8196FF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CC85B3-0716-8ED1-3475-41DC91BAA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F4C6B-25C4-D5B2-C8F9-72A5C5F5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4173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D96B8-5391-A1AD-EC48-43A7FC839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FB6E9-94DB-D72D-8E6B-E2838A78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D1BB85-B1C6-E720-057F-508DFFB69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C6CC7-0E5C-D048-4098-69C9E8509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5D8300-C0F7-3AA7-B489-E109EE241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196DB8-9696-67CE-5C8E-3780ECA71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7743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2ECAD-1C63-AA46-6B31-BFA0EAB1C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5312C2-6E02-E511-0E35-E92726C71FF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4A167-117B-14A8-9526-3D2B1C3C2A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DE6A06-BF06-B52F-040F-0F034A86B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95EF99-87BB-48BD-B646-48F51208C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5A175E-1954-BF44-B492-4238F2754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392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F9ACA-BCD8-317B-F251-7F9A12FAF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B8696E-6E8D-7614-AB26-275EC9B1E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83B49-7C41-7F37-3A55-F2D151AA1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2B2F5-190B-5F95-5D02-DD0DC5CD9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D07C6-AAD2-BA0C-EA81-C5B02F25C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7193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1D4134-28EC-CFD5-F778-9D7F24171D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1223-E0E7-3658-A713-32D6810C4D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28410-0D56-B4F3-F3E7-29A9828BD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278E0-4E56-4D1F-D587-9FD5A52A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B4FD9-C22F-E376-950E-F50E4EF9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914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  <a:alpha val="9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CD85CF-98DD-89B0-6E2A-18DD9E430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156B1-260B-9685-D658-755445EEF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5A32A-7EC2-87CB-119D-B05B9C1A2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2D70F4-DD1F-4FE9-BA41-ABF9AFA586CE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32E0C-7CE4-483C-442E-D210DC47AA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1186B-D76C-FFAF-447A-442BE2715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01E498-9EC4-498E-BAB6-D566D1344C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984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0C7CAE-0850-FF0E-8EF8-B1FE84549B27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33F11C8-A166-FEF0-153A-115FE269CCC6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994314-C7B6-6BD8-F3F1-01630C993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835" y="298936"/>
            <a:ext cx="4601578" cy="6172197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62E6F6C-9E33-5163-CEAB-5382D73534FA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4B6924-3927-DF7E-054E-413CEB1305D5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4" name="SK-1-img-4">
            <a:extLst>
              <a:ext uri="{FF2B5EF4-FFF2-40B4-BE49-F238E27FC236}">
                <a16:creationId xmlns:a16="http://schemas.microsoft.com/office/drawing/2014/main" id="{08F6F941-2510-1EFC-9ECF-9D0C6CA94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48" y="6392739"/>
            <a:ext cx="5933687" cy="166320"/>
          </a:xfrm>
          <a:prstGeom prst="rect">
            <a:avLst/>
          </a:prstGeom>
        </p:spPr>
      </p:pic>
      <p:pic>
        <p:nvPicPr>
          <p:cNvPr id="15" name="SK-1-img-4">
            <a:extLst>
              <a:ext uri="{FF2B5EF4-FFF2-40B4-BE49-F238E27FC236}">
                <a16:creationId xmlns:a16="http://schemas.microsoft.com/office/drawing/2014/main" id="{A8FD9250-B610-C58D-0C10-DA029B307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92" y="316518"/>
            <a:ext cx="5933687" cy="166320"/>
          </a:xfrm>
          <a:prstGeom prst="rect">
            <a:avLst/>
          </a:prstGeom>
        </p:spPr>
      </p:pic>
      <p:sp>
        <p:nvSpPr>
          <p:cNvPr id="21" name="Title 5">
            <a:extLst>
              <a:ext uri="{FF2B5EF4-FFF2-40B4-BE49-F238E27FC236}">
                <a16:creationId xmlns:a16="http://schemas.microsoft.com/office/drawing/2014/main" id="{D2D16D26-368A-251C-D356-13C506CFA231}"/>
              </a:ext>
            </a:extLst>
          </p:cNvPr>
          <p:cNvSpPr txBox="1">
            <a:spLocks/>
          </p:cNvSpPr>
          <p:nvPr/>
        </p:nvSpPr>
        <p:spPr>
          <a:xfrm>
            <a:off x="648522" y="2568471"/>
            <a:ext cx="5878482" cy="1582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700" b="1" dirty="0" err="1">
                <a:solidFill>
                  <a:srgbClr val="001D3D"/>
                </a:solidFill>
                <a:latin typeface="Montserrat" pitchFamily="34" charset="0"/>
                <a:ea typeface="+mn-ea"/>
                <a:cs typeface="+mn-cs"/>
              </a:rPr>
              <a:t>Finlora</a:t>
            </a:r>
            <a:r>
              <a:rPr lang="en-US" sz="2700" b="1" dirty="0">
                <a:solidFill>
                  <a:srgbClr val="001D3D"/>
                </a:solidFill>
                <a:latin typeface="Montserrat" pitchFamily="34" charset="0"/>
                <a:ea typeface="+mn-ea"/>
                <a:cs typeface="+mn-cs"/>
              </a:rPr>
              <a:t> Fraud Detection &amp; Risk-Scoring</a:t>
            </a: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B0100AB5-473A-B466-ACA0-1E795F9747DD}"/>
              </a:ext>
            </a:extLst>
          </p:cNvPr>
          <p:cNvSpPr/>
          <p:nvPr/>
        </p:nvSpPr>
        <p:spPr>
          <a:xfrm>
            <a:off x="2666864" y="922551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icon_shield.png">
            <a:extLst>
              <a:ext uri="{FF2B5EF4-FFF2-40B4-BE49-F238E27FC236}">
                <a16:creationId xmlns:a16="http://schemas.microsoft.com/office/drawing/2014/main" id="{F5261766-73E3-2640-2A10-4DB101EAA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9764" y="1265451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56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9A65-00B8-833D-8DC3-F1E5679BA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D3B82B2-0EE2-1AAE-49DF-5D8ECC6E1CE9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8023BB-6D8B-6DB2-E506-B041B99C9570}"/>
              </a:ext>
            </a:extLst>
          </p:cNvPr>
          <p:cNvSpPr/>
          <p:nvPr/>
        </p:nvSpPr>
        <p:spPr>
          <a:xfrm>
            <a:off x="194888" y="123264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9DB131A-6B92-82D6-FD6C-D1762E4B277C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28BFA61-3D93-D4E9-00EB-C1D416564784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3E8945AD-E44A-3267-9074-EC73A308D599}"/>
              </a:ext>
            </a:extLst>
          </p:cNvPr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icon_zap.png">
            <a:extLst>
              <a:ext uri="{FF2B5EF4-FFF2-40B4-BE49-F238E27FC236}">
                <a16:creationId xmlns:a16="http://schemas.microsoft.com/office/drawing/2014/main" id="{90051FB6-9331-F7E8-B0DA-1E32A9A4D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52561CC8-DDB8-DD87-26D4-4F7E9C9DD551}"/>
              </a:ext>
            </a:extLst>
          </p:cNvPr>
          <p:cNvSpPr/>
          <p:nvPr/>
        </p:nvSpPr>
        <p:spPr>
          <a:xfrm>
            <a:off x="1188720" y="3474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1D3D"/>
                </a:solidFill>
                <a:latin typeface="Montserrat" pitchFamily="34" charset="0"/>
              </a:rPr>
              <a:t>Executive</a:t>
            </a: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700" b="1" dirty="0">
                <a:solidFill>
                  <a:srgbClr val="001D3D"/>
                </a:solidFill>
                <a:latin typeface="Montserrat" pitchFamily="34" charset="0"/>
              </a:rPr>
              <a:t>Summary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0B130AF-51E1-56DE-4FE5-FA4E696B23DD}"/>
              </a:ext>
            </a:extLst>
          </p:cNvPr>
          <p:cNvSpPr/>
          <p:nvPr/>
        </p:nvSpPr>
        <p:spPr>
          <a:xfrm>
            <a:off x="1188720" y="78638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recommendation, the evidence behind it, and what we need from you</a:t>
            </a:r>
            <a:endParaRPr lang="en-US" sz="1300" b="1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964E07D1-E7A4-41C5-946B-D606DC6C7F30}"/>
              </a:ext>
            </a:extLst>
          </p:cNvPr>
          <p:cNvSpPr/>
          <p:nvPr/>
        </p:nvSpPr>
        <p:spPr>
          <a:xfrm>
            <a:off x="457200" y="1280160"/>
            <a:ext cx="2542032" cy="118872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9822A04F-D617-474F-ACD6-441FBA61BBF0}"/>
              </a:ext>
            </a:extLst>
          </p:cNvPr>
          <p:cNvSpPr/>
          <p:nvPr/>
        </p:nvSpPr>
        <p:spPr>
          <a:xfrm>
            <a:off x="548640" y="1371600"/>
            <a:ext cx="2359152" cy="6656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126,000</a:t>
            </a:r>
            <a:endParaRPr lang="en-US" sz="3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D41390F8-411F-0AB6-A6B9-A60B55F31D79}"/>
              </a:ext>
            </a:extLst>
          </p:cNvPr>
          <p:cNvSpPr/>
          <p:nvPr/>
        </p:nvSpPr>
        <p:spPr>
          <a:xfrm>
            <a:off x="548640" y="1993392"/>
            <a:ext cx="2359152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analyzed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7,144 active accounts</a:t>
            </a:r>
            <a:endParaRPr lang="en-US" sz="1050" b="1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9FBE54D2-67E6-39FF-A2C4-26C76DCE1049}"/>
              </a:ext>
            </a:extLst>
          </p:cNvPr>
          <p:cNvSpPr/>
          <p:nvPr/>
        </p:nvSpPr>
        <p:spPr>
          <a:xfrm>
            <a:off x="3200400" y="1280160"/>
            <a:ext cx="2542032" cy="118872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82107CE0-35BA-E23E-039F-4E5260F39A11}"/>
              </a:ext>
            </a:extLst>
          </p:cNvPr>
          <p:cNvSpPr/>
          <p:nvPr/>
        </p:nvSpPr>
        <p:spPr>
          <a:xfrm>
            <a:off x="3291840" y="1371600"/>
            <a:ext cx="2359152" cy="6656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2.66%</a:t>
            </a:r>
            <a:endParaRPr lang="en-US" sz="3000" dirty="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DE83EAEF-4AA2-8D6B-AA71-4060C89AD976}"/>
              </a:ext>
            </a:extLst>
          </p:cNvPr>
          <p:cNvSpPr/>
          <p:nvPr/>
        </p:nvSpPr>
        <p:spPr>
          <a:xfrm>
            <a:off x="3291840" y="1993392"/>
            <a:ext cx="2359152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fraud rate —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rare, but concentrated</a:t>
            </a:r>
            <a:endParaRPr lang="en-US" sz="1050" b="1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51066AB8-F89E-6E73-23F8-DE68B001A0C3}"/>
              </a:ext>
            </a:extLst>
          </p:cNvPr>
          <p:cNvSpPr/>
          <p:nvPr/>
        </p:nvSpPr>
        <p:spPr>
          <a:xfrm>
            <a:off x="5943600" y="1280160"/>
            <a:ext cx="2542032" cy="118872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56A2770-E2C4-46F9-CAB3-B32E1DF97A65}"/>
              </a:ext>
            </a:extLst>
          </p:cNvPr>
          <p:cNvSpPr/>
          <p:nvPr/>
        </p:nvSpPr>
        <p:spPr>
          <a:xfrm>
            <a:off x="6035040" y="1371600"/>
            <a:ext cx="2359152" cy="6656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71.1%</a:t>
            </a:r>
            <a:endParaRPr lang="en-US" sz="3000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45B389DE-9236-67B5-EAFD-853B2456C812}"/>
              </a:ext>
            </a:extLst>
          </p:cNvPr>
          <p:cNvSpPr/>
          <p:nvPr/>
        </p:nvSpPr>
        <p:spPr>
          <a:xfrm>
            <a:off x="6035040" y="1993392"/>
            <a:ext cx="2359152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of the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model</a:t>
            </a:r>
            <a:endParaRPr lang="en-US" sz="1050" b="1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3D3EF17C-FD93-BCD5-4A71-9E484DD14CD6}"/>
              </a:ext>
            </a:extLst>
          </p:cNvPr>
          <p:cNvSpPr/>
          <p:nvPr/>
        </p:nvSpPr>
        <p:spPr>
          <a:xfrm>
            <a:off x="8686800" y="1280160"/>
            <a:ext cx="2542032" cy="1188720"/>
          </a:xfrm>
          <a:prstGeom prst="roundRect">
            <a:avLst>
              <a:gd name="adj" fmla="val 6923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3C59A5CF-3D57-B966-3B75-463E16A9213A}"/>
              </a:ext>
            </a:extLst>
          </p:cNvPr>
          <p:cNvSpPr/>
          <p:nvPr/>
        </p:nvSpPr>
        <p:spPr>
          <a:xfrm>
            <a:off x="8778240" y="1371600"/>
            <a:ext cx="2359152" cy="6656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93.4%</a:t>
            </a:r>
            <a:endParaRPr lang="en-US" sz="300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280CEB48-ECF5-4467-572E-B20B521D6F3B}"/>
              </a:ext>
            </a:extLst>
          </p:cNvPr>
          <p:cNvSpPr/>
          <p:nvPr/>
        </p:nvSpPr>
        <p:spPr>
          <a:xfrm>
            <a:off x="8778240" y="1993392"/>
            <a:ext cx="2359152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— ranking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the model</a:t>
            </a:r>
            <a:endParaRPr lang="en-US" sz="1050" b="1" dirty="0"/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1A7C75EC-C439-8520-3ADE-719691D405DF}"/>
              </a:ext>
            </a:extLst>
          </p:cNvPr>
          <p:cNvSpPr/>
          <p:nvPr/>
        </p:nvSpPr>
        <p:spPr>
          <a:xfrm>
            <a:off x="457200" y="2697480"/>
            <a:ext cx="11247120" cy="1417320"/>
          </a:xfrm>
          <a:prstGeom prst="roundRect">
            <a:avLst>
              <a:gd name="adj" fmla="val 5161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3EC46DF6-65EB-0BE8-B0AE-C05EAA342BA5}"/>
              </a:ext>
            </a:extLst>
          </p:cNvPr>
          <p:cNvSpPr/>
          <p:nvPr/>
        </p:nvSpPr>
        <p:spPr>
          <a:xfrm>
            <a:off x="731520" y="28163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A6916522-55F3-72F8-8AB7-A3F424971932}"/>
              </a:ext>
            </a:extLst>
          </p:cNvPr>
          <p:cNvSpPr/>
          <p:nvPr/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fixed fraud-threshold rules with a Logistic Regression risk-scoring model, tuned to a 0.935 decision threshold. It matched or beat six more complex alternatives — tuned Random Forest, gradient boosting, SMOTE, calibration, and an ensemble — on F1, while staying the simplest and fastest model to explain, audit, and maintain.</a:t>
            </a:r>
            <a:endParaRPr lang="en-US" sz="1300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E5248DC3-B28A-FD47-6E0F-D646AA983170}"/>
              </a:ext>
            </a:extLst>
          </p:cNvPr>
          <p:cNvSpPr/>
          <p:nvPr/>
        </p:nvSpPr>
        <p:spPr>
          <a:xfrm>
            <a:off x="457200" y="42793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need to deploy the model:</a:t>
            </a:r>
            <a:endParaRPr lang="en-US" sz="1200" dirty="0"/>
          </a:p>
        </p:txBody>
      </p:sp>
      <p:sp>
        <p:nvSpPr>
          <p:cNvPr id="52" name="Text 19">
            <a:extLst>
              <a:ext uri="{FF2B5EF4-FFF2-40B4-BE49-F238E27FC236}">
                <a16:creationId xmlns:a16="http://schemas.microsoft.com/office/drawing/2014/main" id="{964AFB2E-5C34-A102-E07F-2B288ED10059}"/>
              </a:ext>
            </a:extLst>
          </p:cNvPr>
          <p:cNvSpPr/>
          <p:nvPr/>
        </p:nvSpPr>
        <p:spPr>
          <a:xfrm>
            <a:off x="548640" y="4572000"/>
            <a:ext cx="107899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moving this model behind a live scoring endpoint 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an operating threshold based on analyst review capacity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 on the next-phase roadmap for better investment decision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701584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BAB6-6553-055E-89D6-229163006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F503DD2-9BBB-DBFE-20DA-E09087FCD0BE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01F560-CC2B-3690-C7C4-2AC872C50ED4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87E2FE-DE7E-3E64-DB76-D8CA6C301239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9279F7F-0469-F55D-69FF-6E0680AD79C8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D4C3445C-445A-5148-4CEF-3DA3ECEF4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71" y="1347788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2" name="SK-5-text-7">
            <a:extLst>
              <a:ext uri="{FF2B5EF4-FFF2-40B4-BE49-F238E27FC236}">
                <a16:creationId xmlns:a16="http://schemas.microsoft.com/office/drawing/2014/main" id="{5D515906-8F7A-D127-174B-4F56CE115860}"/>
              </a:ext>
            </a:extLst>
          </p:cNvPr>
          <p:cNvSpPr/>
          <p:nvPr/>
        </p:nvSpPr>
        <p:spPr>
          <a:xfrm>
            <a:off x="511969" y="397669"/>
            <a:ext cx="2087880" cy="17829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BUSINESS PROBLEM</a:t>
            </a:r>
          </a:p>
        </p:txBody>
      </p:sp>
      <p:sp>
        <p:nvSpPr>
          <p:cNvPr id="16" name="SK-5-text-8">
            <a:extLst>
              <a:ext uri="{FF2B5EF4-FFF2-40B4-BE49-F238E27FC236}">
                <a16:creationId xmlns:a16="http://schemas.microsoft.com/office/drawing/2014/main" id="{30AEF2CB-6FA1-A285-A172-7599E60DD580}"/>
              </a:ext>
            </a:extLst>
          </p:cNvPr>
          <p:cNvSpPr/>
          <p:nvPr/>
        </p:nvSpPr>
        <p:spPr>
          <a:xfrm>
            <a:off x="511969" y="795486"/>
            <a:ext cx="11680031" cy="38397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700" b="1" dirty="0">
                <a:solidFill>
                  <a:srgbClr val="001D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 pass/fail rule to a risk- score</a:t>
            </a:r>
            <a:endParaRPr lang="en-US" sz="2700" dirty="0"/>
          </a:p>
        </p:txBody>
      </p:sp>
      <p:pic>
        <p:nvPicPr>
          <p:cNvPr id="23" name="SK-5-img-4">
            <a:extLst>
              <a:ext uri="{FF2B5EF4-FFF2-40B4-BE49-F238E27FC236}">
                <a16:creationId xmlns:a16="http://schemas.microsoft.com/office/drawing/2014/main" id="{26D338B6-356C-CB94-36E6-D1F1DA78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81" y="1748730"/>
            <a:ext cx="6034980" cy="4090095"/>
          </a:xfrm>
          <a:prstGeom prst="rect">
            <a:avLst/>
          </a:prstGeom>
        </p:spPr>
      </p:pic>
      <p:sp>
        <p:nvSpPr>
          <p:cNvPr id="26" name="SK-5-text-11">
            <a:extLst>
              <a:ext uri="{FF2B5EF4-FFF2-40B4-BE49-F238E27FC236}">
                <a16:creationId xmlns:a16="http://schemas.microsoft.com/office/drawing/2014/main" id="{594B6864-0708-7BC0-E3A5-28E120ADFA2B}"/>
              </a:ext>
            </a:extLst>
          </p:cNvPr>
          <p:cNvSpPr/>
          <p:nvPr/>
        </p:nvSpPr>
        <p:spPr>
          <a:xfrm>
            <a:off x="710801" y="5152757"/>
            <a:ext cx="5262106" cy="11315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Aft>
                <a:spcPts val="1200"/>
              </a:spcAft>
              <a:buSzPct val="100000"/>
            </a:pPr>
            <a:r>
              <a:rPr lang="en-US" sz="1400" b="1" dirty="0">
                <a:solidFill>
                  <a:srgbClr val="001D3D"/>
                </a:solidFill>
                <a:latin typeface="Montserrat" pitchFamily="34" charset="0"/>
              </a:rPr>
              <a:t>Project Aim: </a:t>
            </a: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profile a model that ranks transactions by risk well </a:t>
            </a:r>
          </a:p>
          <a:p>
            <a:pPr>
              <a:lnSpc>
                <a:spcPct val="110000"/>
              </a:lnSpc>
              <a:spcAft>
                <a:spcPts val="1200"/>
              </a:spcAft>
              <a:buSzPct val="100000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enough to prevent/alert fraudulent transactions &amp; support stakeholder</a:t>
            </a:r>
          </a:p>
          <a:p>
            <a:pPr>
              <a:lnSpc>
                <a:spcPct val="110000"/>
              </a:lnSpc>
              <a:spcAft>
                <a:spcPts val="1200"/>
              </a:spcAft>
              <a:buSzPct val="100000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decisions — approve, step-up authentication, or hold for review</a:t>
            </a:r>
          </a:p>
          <a:p>
            <a:pPr>
              <a:lnSpc>
                <a:spcPct val="110000"/>
              </a:lnSpc>
              <a:spcAft>
                <a:spcPts val="1200"/>
              </a:spcAft>
              <a:buSzPct val="100000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and an app that displays the risk score for better operating decisions.</a:t>
            </a:r>
          </a:p>
        </p:txBody>
      </p:sp>
      <p:pic>
        <p:nvPicPr>
          <p:cNvPr id="33" name="SK-5-img-3">
            <a:extLst>
              <a:ext uri="{FF2B5EF4-FFF2-40B4-BE49-F238E27FC236}">
                <a16:creationId xmlns:a16="http://schemas.microsoft.com/office/drawing/2014/main" id="{366E2528-9172-58E2-0E33-CBCDEA3BA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786921" y="1866448"/>
            <a:ext cx="1336926" cy="336362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0D0F14B-A83F-44EE-C1F1-811653C27828}"/>
              </a:ext>
            </a:extLst>
          </p:cNvPr>
          <p:cNvSpPr/>
          <p:nvPr/>
        </p:nvSpPr>
        <p:spPr>
          <a:xfrm>
            <a:off x="6927981" y="1734638"/>
            <a:ext cx="4945692" cy="59055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 dirty="0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3" name="SK-5-text-12">
            <a:extLst>
              <a:ext uri="{FF2B5EF4-FFF2-40B4-BE49-F238E27FC236}">
                <a16:creationId xmlns:a16="http://schemas.microsoft.com/office/drawing/2014/main" id="{E6CE9A0F-C5D8-8F6E-980E-3B0087995C73}"/>
              </a:ext>
            </a:extLst>
          </p:cNvPr>
          <p:cNvSpPr/>
          <p:nvPr/>
        </p:nvSpPr>
        <p:spPr>
          <a:xfrm>
            <a:off x="7050464" y="1954995"/>
            <a:ext cx="1773496" cy="16676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Matters now?</a:t>
            </a:r>
            <a:endParaRPr lang="en-US" sz="1725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8FC39845-BACD-6822-53E7-1FB896CEAF74}"/>
              </a:ext>
            </a:extLst>
          </p:cNvPr>
          <p:cNvSpPr/>
          <p:nvPr/>
        </p:nvSpPr>
        <p:spPr>
          <a:xfrm>
            <a:off x="581847" y="2455545"/>
            <a:ext cx="4937760" cy="24412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Confirmed fraud slips through static, fixed-amount/velocity/geography rules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Legitimate payroll, wire, and P2P transfers get blocked or delayed by rules too blunt to tell them apart from fraud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Every flagged transaction gets equal urgency — analysts have no way to prioritize the riskiest cases first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Manual review time scales linearly with volume, which doesn't scale with a growing platform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7C31E22C-AF24-800B-C371-A74E92D6BDC1}"/>
              </a:ext>
            </a:extLst>
          </p:cNvPr>
          <p:cNvSpPr/>
          <p:nvPr/>
        </p:nvSpPr>
        <p:spPr>
          <a:xfrm>
            <a:off x="650578" y="192128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C99B780-1B45-D2C8-39B4-37D07642E362}"/>
              </a:ext>
            </a:extLst>
          </p:cNvPr>
          <p:cNvSpPr/>
          <p:nvPr/>
        </p:nvSpPr>
        <p:spPr>
          <a:xfrm>
            <a:off x="6839741" y="2743209"/>
            <a:ext cx="5029200" cy="2958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Fraud tactics adapt faster than hand-maintained rule sets can be updated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Finlora</a:t>
            </a: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 unifies payments, balances, identity and budgeting in one platform — a higher-value target that needs monitoring to match its exposure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Regulators increasingly expect monitoring that goes beyond static thresholds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Both failure modes carry real cost: fraud losses and chargebacks on one side, support overhead and customer churn on the other</a:t>
            </a:r>
          </a:p>
        </p:txBody>
      </p:sp>
    </p:spTree>
    <p:extLst>
      <p:ext uri="{BB962C8B-B14F-4D97-AF65-F5344CB8AC3E}">
        <p14:creationId xmlns:p14="http://schemas.microsoft.com/office/powerpoint/2010/main" val="3759522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503F2-D42F-3BA9-ABEE-5CB9EF442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DFC322-7BE2-BF29-E791-CBA13E0DDA9C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66F0EB-B578-D1C7-B0FD-E4F4EC9BB04E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5E18AC-7EC8-AB1D-0F8E-F4A1C6327335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39078A-1783-1904-AF46-559EC0E996AC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10E89CEF-0D92-F6C8-69F6-F6C72A7021B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18071" y="1347788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2" name="SK-5-text-7">
            <a:extLst>
              <a:ext uri="{FF2B5EF4-FFF2-40B4-BE49-F238E27FC236}">
                <a16:creationId xmlns:a16="http://schemas.microsoft.com/office/drawing/2014/main" id="{C8D1EF5A-E389-9D33-FA77-21FACAC34BE7}"/>
              </a:ext>
            </a:extLst>
          </p:cNvPr>
          <p:cNvSpPr/>
          <p:nvPr/>
        </p:nvSpPr>
        <p:spPr>
          <a:xfrm>
            <a:off x="1100328" y="523459"/>
            <a:ext cx="2087880" cy="17829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PROJECT SCOPE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39CD4DF9-4B97-2353-95EA-E9646CB5917E}"/>
              </a:ext>
            </a:extLst>
          </p:cNvPr>
          <p:cNvSpPr/>
          <p:nvPr/>
        </p:nvSpPr>
        <p:spPr>
          <a:xfrm>
            <a:off x="457200" y="33147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4" name="Image 0" descr="icon_clipboard.png">
            <a:extLst>
              <a:ext uri="{FF2B5EF4-FFF2-40B4-BE49-F238E27FC236}">
                <a16:creationId xmlns:a16="http://schemas.microsoft.com/office/drawing/2014/main" id="{B2221E31-809F-134B-F951-F78740726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467533"/>
            <a:ext cx="294803" cy="294803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9B1A41A0-46AC-EA4F-9DF7-2F1DCF416283}"/>
              </a:ext>
            </a:extLst>
          </p:cNvPr>
          <p:cNvSpPr/>
          <p:nvPr/>
        </p:nvSpPr>
        <p:spPr>
          <a:xfrm>
            <a:off x="464058" y="1036829"/>
            <a:ext cx="57538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prototype covers — and what it deliberately leaves for a later phase</a:t>
            </a:r>
            <a:endParaRPr lang="en-US" sz="1300" dirty="0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2658C63C-A19D-5AD7-8727-8955D426091D}"/>
              </a:ext>
            </a:extLst>
          </p:cNvPr>
          <p:cNvSpPr/>
          <p:nvPr/>
        </p:nvSpPr>
        <p:spPr>
          <a:xfrm>
            <a:off x="457200" y="1440180"/>
            <a:ext cx="5440680" cy="3771793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0C2408C-5ED1-C780-06D8-4E7BB6CC580D}"/>
              </a:ext>
            </a:extLst>
          </p:cNvPr>
          <p:cNvSpPr/>
          <p:nvPr/>
        </p:nvSpPr>
        <p:spPr>
          <a:xfrm>
            <a:off x="731520" y="15544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CC890B32-08CF-7038-1579-48B9459A3562}"/>
              </a:ext>
            </a:extLst>
          </p:cNvPr>
          <p:cNvSpPr/>
          <p:nvPr/>
        </p:nvSpPr>
        <p:spPr>
          <a:xfrm>
            <a:off x="731520" y="196596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Fraud-probability risk-scoring model (Logistic Regression + Random Forest)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features: spend baseline, velocity, device novelty, cross-border activity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&amp; pattern analysis, flagged vs. legitimate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 / F1 / ROC-AUC validation on a held-out test set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 an internal Streamlit review-queue dashboard</a:t>
            </a:r>
            <a:endParaRPr lang="en-US" sz="1250" dirty="0"/>
          </a:p>
        </p:txBody>
      </p:sp>
      <p:sp>
        <p:nvSpPr>
          <p:cNvPr id="29" name="Shape 6">
            <a:extLst>
              <a:ext uri="{FF2B5EF4-FFF2-40B4-BE49-F238E27FC236}">
                <a16:creationId xmlns:a16="http://schemas.microsoft.com/office/drawing/2014/main" id="{BACAAEAA-70CD-5BD2-0A63-12B5C05A009D}"/>
              </a:ext>
            </a:extLst>
          </p:cNvPr>
          <p:cNvSpPr/>
          <p:nvPr/>
        </p:nvSpPr>
        <p:spPr>
          <a:xfrm>
            <a:off x="6172200" y="1440180"/>
            <a:ext cx="5532120" cy="3771793"/>
          </a:xfrm>
          <a:prstGeom prst="roundRect">
            <a:avLst>
              <a:gd name="adj" fmla="val 1538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CC406BD2-7956-6BCE-A3DE-E371451E7FB6}"/>
              </a:ext>
            </a:extLst>
          </p:cNvPr>
          <p:cNvSpPr/>
          <p:nvPr/>
        </p:nvSpPr>
        <p:spPr>
          <a:xfrm>
            <a:off x="644652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(this phase)</a:t>
            </a:r>
            <a:endParaRPr lang="en-US" sz="1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2112DE29-FD40-4FF2-E50C-5868BB16DB7E}"/>
              </a:ext>
            </a:extLst>
          </p:cNvPr>
          <p:cNvSpPr/>
          <p:nvPr/>
        </p:nvSpPr>
        <p:spPr>
          <a:xfrm>
            <a:off x="6446520" y="196596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 with Finlora's real payment/processing systems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production-labeled fraud data (this prototype uses historical/synthetic labels)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blocking or step-up verification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feedback loop &amp; model retraining pipeline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/ ensemble models beyond Logistic Regression &amp; Random Forest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✗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authentication, hosting hardening, or regulatory sign-off</a:t>
            </a:r>
            <a:endParaRPr lang="en-US" sz="12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2901AD8-D6BC-DFA0-F9E1-EFABEC7E9172}"/>
              </a:ext>
            </a:extLst>
          </p:cNvPr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Finance Flow  |  Confidential — Internal Stakeholder Review</a:t>
            </a:r>
            <a:endParaRPr lang="en-US" sz="900" dirty="0"/>
          </a:p>
        </p:txBody>
      </p:sp>
      <p:pic>
        <p:nvPicPr>
          <p:cNvPr id="40" name="SK-5-img-3">
            <a:extLst>
              <a:ext uri="{FF2B5EF4-FFF2-40B4-BE49-F238E27FC236}">
                <a16:creationId xmlns:a16="http://schemas.microsoft.com/office/drawing/2014/main" id="{ACEF276D-5652-666B-403F-F9B68CCE3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54045"/>
            <a:ext cx="822871" cy="47625"/>
          </a:xfrm>
          <a:prstGeom prst="rect">
            <a:avLst/>
          </a:prstGeom>
          <a:solidFill>
            <a:srgbClr val="C00000"/>
          </a:solidFill>
        </p:spPr>
      </p:pic>
    </p:spTree>
    <p:extLst>
      <p:ext uri="{BB962C8B-B14F-4D97-AF65-F5344CB8AC3E}">
        <p14:creationId xmlns:p14="http://schemas.microsoft.com/office/powerpoint/2010/main" val="556085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71242-7711-9135-7ED9-288CD46E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5AF41D-E101-4568-788F-0DDA51901CC0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0460C42-6CC3-8589-50FF-44DB5B230BD7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4A9DDFC-2A28-5622-72BD-351F988F9060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D68A232-1C0E-6C8D-9BBD-135812910968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E1185BB-3DD4-13A4-B511-65DEEE02D1A4}"/>
              </a:ext>
            </a:extLst>
          </p:cNvPr>
          <p:cNvSpPr/>
          <p:nvPr/>
        </p:nvSpPr>
        <p:spPr>
          <a:xfrm>
            <a:off x="376518" y="317351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6" name="Image 0" descr="icon_cpu.png">
            <a:extLst>
              <a:ext uri="{FF2B5EF4-FFF2-40B4-BE49-F238E27FC236}">
                <a16:creationId xmlns:a16="http://schemas.microsoft.com/office/drawing/2014/main" id="{01AF5EC0-DDDE-A9E4-8CF3-9125CA093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81" y="453414"/>
            <a:ext cx="294803" cy="294803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1EE97FBE-D5E3-21B6-A794-0931C8663F79}"/>
              </a:ext>
            </a:extLst>
          </p:cNvPr>
          <p:cNvSpPr/>
          <p:nvPr/>
        </p:nvSpPr>
        <p:spPr>
          <a:xfrm>
            <a:off x="943446" y="332749"/>
            <a:ext cx="294275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PROJECT RAIONALE:</a:t>
            </a:r>
            <a:endParaRPr lang="en-US" sz="2600" dirty="0"/>
          </a:p>
        </p:txBody>
      </p:sp>
      <p:sp>
        <p:nvSpPr>
          <p:cNvPr id="42" name="Shape 3">
            <a:extLst>
              <a:ext uri="{FF2B5EF4-FFF2-40B4-BE49-F238E27FC236}">
                <a16:creationId xmlns:a16="http://schemas.microsoft.com/office/drawing/2014/main" id="{0808EAF0-92A2-F6F0-BE66-F5A80DAAA56C}"/>
              </a:ext>
            </a:extLst>
          </p:cNvPr>
          <p:cNvSpPr/>
          <p:nvPr/>
        </p:nvSpPr>
        <p:spPr>
          <a:xfrm>
            <a:off x="457200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CC64EA68-C47C-29D3-0F6D-131070795D9D}"/>
              </a:ext>
            </a:extLst>
          </p:cNvPr>
          <p:cNvSpPr/>
          <p:nvPr/>
        </p:nvSpPr>
        <p:spPr>
          <a:xfrm>
            <a:off x="457200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EC133A31-CE0D-7F38-3891-9FB87BCF7FD0}"/>
              </a:ext>
            </a:extLst>
          </p:cNvPr>
          <p:cNvSpPr/>
          <p:nvPr/>
        </p:nvSpPr>
        <p:spPr>
          <a:xfrm>
            <a:off x="521208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250" dirty="0"/>
          </a:p>
        </p:txBody>
      </p:sp>
      <p:sp>
        <p:nvSpPr>
          <p:cNvPr id="48" name="Text 6">
            <a:extLst>
              <a:ext uri="{FF2B5EF4-FFF2-40B4-BE49-F238E27FC236}">
                <a16:creationId xmlns:a16="http://schemas.microsoft.com/office/drawing/2014/main" id="{88CA8F6F-F3B5-756E-8B8A-9F51D2FD11FF}"/>
              </a:ext>
            </a:extLst>
          </p:cNvPr>
          <p:cNvSpPr/>
          <p:nvPr/>
        </p:nvSpPr>
        <p:spPr>
          <a:xfrm>
            <a:off x="521208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missing values, invalid data, duplicates</a:t>
            </a:r>
            <a:endParaRPr lang="en-US" sz="900" dirty="0"/>
          </a:p>
        </p:txBody>
      </p:sp>
      <p:sp>
        <p:nvSpPr>
          <p:cNvPr id="50" name="Shape 7">
            <a:extLst>
              <a:ext uri="{FF2B5EF4-FFF2-40B4-BE49-F238E27FC236}">
                <a16:creationId xmlns:a16="http://schemas.microsoft.com/office/drawing/2014/main" id="{2E49DE1E-96AF-5D47-73E9-D387982FB117}"/>
              </a:ext>
            </a:extLst>
          </p:cNvPr>
          <p:cNvSpPr/>
          <p:nvPr/>
        </p:nvSpPr>
        <p:spPr>
          <a:xfrm>
            <a:off x="2039112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621907B3-406B-D35F-1C49-49B1691477C9}"/>
              </a:ext>
            </a:extLst>
          </p:cNvPr>
          <p:cNvSpPr/>
          <p:nvPr/>
        </p:nvSpPr>
        <p:spPr>
          <a:xfrm>
            <a:off x="2039112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4" name="Text 9">
            <a:extLst>
              <a:ext uri="{FF2B5EF4-FFF2-40B4-BE49-F238E27FC236}">
                <a16:creationId xmlns:a16="http://schemas.microsoft.com/office/drawing/2014/main" id="{CC6C6E76-1092-B4E6-4C6D-C28B27F2DDDE}"/>
              </a:ext>
            </a:extLst>
          </p:cNvPr>
          <p:cNvSpPr/>
          <p:nvPr/>
        </p:nvSpPr>
        <p:spPr>
          <a:xfrm>
            <a:off x="2103120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25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DBF98AC2-BD05-49E2-7189-A7F7AED0C5B7}"/>
              </a:ext>
            </a:extLst>
          </p:cNvPr>
          <p:cNvSpPr/>
          <p:nvPr/>
        </p:nvSpPr>
        <p:spPr>
          <a:xfrm>
            <a:off x="2103120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fraud vs. legitimate behavior patterns</a:t>
            </a:r>
            <a:endParaRPr lang="en-US" sz="90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6A2AB183-0770-4AC1-4AE4-6B75EF9AB2EC}"/>
              </a:ext>
            </a:extLst>
          </p:cNvPr>
          <p:cNvSpPr/>
          <p:nvPr/>
        </p:nvSpPr>
        <p:spPr>
          <a:xfrm>
            <a:off x="3621024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12">
            <a:extLst>
              <a:ext uri="{FF2B5EF4-FFF2-40B4-BE49-F238E27FC236}">
                <a16:creationId xmlns:a16="http://schemas.microsoft.com/office/drawing/2014/main" id="{B34087E9-438E-98B0-8DE2-B0812FE850E8}"/>
              </a:ext>
            </a:extLst>
          </p:cNvPr>
          <p:cNvSpPr/>
          <p:nvPr/>
        </p:nvSpPr>
        <p:spPr>
          <a:xfrm>
            <a:off x="3621024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ACA66795-82C3-481B-54AA-94BAB6FE892F}"/>
              </a:ext>
            </a:extLst>
          </p:cNvPr>
          <p:cNvSpPr/>
          <p:nvPr/>
        </p:nvSpPr>
        <p:spPr>
          <a:xfrm>
            <a:off x="3685032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250" dirty="0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342B625F-9268-0322-5754-5E25830ABE2E}"/>
              </a:ext>
            </a:extLst>
          </p:cNvPr>
          <p:cNvSpPr/>
          <p:nvPr/>
        </p:nvSpPr>
        <p:spPr>
          <a:xfrm>
            <a:off x="3685032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behavioral features from raw transactions</a:t>
            </a:r>
            <a:endParaRPr lang="en-US" sz="900" dirty="0"/>
          </a:p>
        </p:txBody>
      </p:sp>
      <p:sp>
        <p:nvSpPr>
          <p:cNvPr id="66" name="Shape 15">
            <a:extLst>
              <a:ext uri="{FF2B5EF4-FFF2-40B4-BE49-F238E27FC236}">
                <a16:creationId xmlns:a16="http://schemas.microsoft.com/office/drawing/2014/main" id="{D3793F0C-C23E-9EA6-AC3D-A0C67056A36D}"/>
              </a:ext>
            </a:extLst>
          </p:cNvPr>
          <p:cNvSpPr/>
          <p:nvPr/>
        </p:nvSpPr>
        <p:spPr>
          <a:xfrm>
            <a:off x="5202936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16">
            <a:extLst>
              <a:ext uri="{FF2B5EF4-FFF2-40B4-BE49-F238E27FC236}">
                <a16:creationId xmlns:a16="http://schemas.microsoft.com/office/drawing/2014/main" id="{B41B8596-3C6F-E498-C714-A2F11AC85A34}"/>
              </a:ext>
            </a:extLst>
          </p:cNvPr>
          <p:cNvSpPr/>
          <p:nvPr/>
        </p:nvSpPr>
        <p:spPr>
          <a:xfrm>
            <a:off x="5202936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D4544F2F-A520-E3D2-9711-F2CE3D6A2D88}"/>
              </a:ext>
            </a:extLst>
          </p:cNvPr>
          <p:cNvSpPr/>
          <p:nvPr/>
        </p:nvSpPr>
        <p:spPr>
          <a:xfrm>
            <a:off x="5266944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50" dirty="0"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A5D89005-7A99-7AA0-E7AF-4A1FF1CD4562}"/>
              </a:ext>
            </a:extLst>
          </p:cNvPr>
          <p:cNvSpPr/>
          <p:nvPr/>
        </p:nvSpPr>
        <p:spPr>
          <a:xfrm>
            <a:off x="5266944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Logistic Regression + Random Forest, 75/25 split</a:t>
            </a:r>
            <a:endParaRPr lang="en-US" sz="900" b="1" dirty="0"/>
          </a:p>
        </p:txBody>
      </p:sp>
      <p:sp>
        <p:nvSpPr>
          <p:cNvPr id="74" name="Shape 19">
            <a:extLst>
              <a:ext uri="{FF2B5EF4-FFF2-40B4-BE49-F238E27FC236}">
                <a16:creationId xmlns:a16="http://schemas.microsoft.com/office/drawing/2014/main" id="{A8200B72-0248-5343-E4F2-DD7493CD6B33}"/>
              </a:ext>
            </a:extLst>
          </p:cNvPr>
          <p:cNvSpPr/>
          <p:nvPr/>
        </p:nvSpPr>
        <p:spPr>
          <a:xfrm>
            <a:off x="6784848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6" name="Text 20">
            <a:extLst>
              <a:ext uri="{FF2B5EF4-FFF2-40B4-BE49-F238E27FC236}">
                <a16:creationId xmlns:a16="http://schemas.microsoft.com/office/drawing/2014/main" id="{9BEA3B1C-5E50-E33F-F9EA-FE46714BF2DC}"/>
              </a:ext>
            </a:extLst>
          </p:cNvPr>
          <p:cNvSpPr/>
          <p:nvPr/>
        </p:nvSpPr>
        <p:spPr>
          <a:xfrm>
            <a:off x="6784848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BB92B639-5D28-F914-A708-160E2B8968C9}"/>
              </a:ext>
            </a:extLst>
          </p:cNvPr>
          <p:cNvSpPr/>
          <p:nvPr/>
        </p:nvSpPr>
        <p:spPr>
          <a:xfrm>
            <a:off x="6848856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50" dirty="0"/>
          </a:p>
        </p:txBody>
      </p:sp>
      <p:sp>
        <p:nvSpPr>
          <p:cNvPr id="80" name="Text 22">
            <a:extLst>
              <a:ext uri="{FF2B5EF4-FFF2-40B4-BE49-F238E27FC236}">
                <a16:creationId xmlns:a16="http://schemas.microsoft.com/office/drawing/2014/main" id="{9FB70EFE-3CC6-48E8-3F06-52EE5038041F}"/>
              </a:ext>
            </a:extLst>
          </p:cNvPr>
          <p:cNvSpPr/>
          <p:nvPr/>
        </p:nvSpPr>
        <p:spPr>
          <a:xfrm>
            <a:off x="6848856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recall, F1, ROC-AUC on held-out test set</a:t>
            </a:r>
            <a:endParaRPr lang="en-US" sz="900" dirty="0"/>
          </a:p>
        </p:txBody>
      </p:sp>
      <p:sp>
        <p:nvSpPr>
          <p:cNvPr id="82" name="Shape 23">
            <a:extLst>
              <a:ext uri="{FF2B5EF4-FFF2-40B4-BE49-F238E27FC236}">
                <a16:creationId xmlns:a16="http://schemas.microsoft.com/office/drawing/2014/main" id="{36B1761F-1EF0-C7F1-541F-AB6EA705D3E0}"/>
              </a:ext>
            </a:extLst>
          </p:cNvPr>
          <p:cNvSpPr/>
          <p:nvPr/>
        </p:nvSpPr>
        <p:spPr>
          <a:xfrm>
            <a:off x="8366760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rgbClr val="2C387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2B34A593-0A3C-A393-42AF-9263CB1745F0}"/>
              </a:ext>
            </a:extLst>
          </p:cNvPr>
          <p:cNvSpPr/>
          <p:nvPr/>
        </p:nvSpPr>
        <p:spPr>
          <a:xfrm>
            <a:off x="8366760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86" name="Text 25">
            <a:extLst>
              <a:ext uri="{FF2B5EF4-FFF2-40B4-BE49-F238E27FC236}">
                <a16:creationId xmlns:a16="http://schemas.microsoft.com/office/drawing/2014/main" id="{3C732D37-281E-BA45-80AA-B755495AB008}"/>
              </a:ext>
            </a:extLst>
          </p:cNvPr>
          <p:cNvSpPr/>
          <p:nvPr/>
        </p:nvSpPr>
        <p:spPr>
          <a:xfrm>
            <a:off x="8430768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50" dirty="0"/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35BE90CC-4AD3-1CAD-02E8-5E8A9A0A25F9}"/>
              </a:ext>
            </a:extLst>
          </p:cNvPr>
          <p:cNvSpPr/>
          <p:nvPr/>
        </p:nvSpPr>
        <p:spPr>
          <a:xfrm>
            <a:off x="8430768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5 more techniques + threshold tuning</a:t>
            </a:r>
            <a:endParaRPr lang="en-US" sz="900" dirty="0"/>
          </a:p>
        </p:txBody>
      </p:sp>
      <p:sp>
        <p:nvSpPr>
          <p:cNvPr id="90" name="Shape 27">
            <a:extLst>
              <a:ext uri="{FF2B5EF4-FFF2-40B4-BE49-F238E27FC236}">
                <a16:creationId xmlns:a16="http://schemas.microsoft.com/office/drawing/2014/main" id="{C123EC82-2C6E-2397-E9E9-537E784962B2}"/>
              </a:ext>
            </a:extLst>
          </p:cNvPr>
          <p:cNvSpPr/>
          <p:nvPr/>
        </p:nvSpPr>
        <p:spPr>
          <a:xfrm>
            <a:off x="9948672" y="2377440"/>
            <a:ext cx="1481328" cy="1554480"/>
          </a:xfrm>
          <a:prstGeom prst="roundRect">
            <a:avLst>
              <a:gd name="adj" fmla="val 4938"/>
            </a:avLst>
          </a:prstGeom>
          <a:solidFill>
            <a:srgbClr val="E15B4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2" name="Text 28">
            <a:extLst>
              <a:ext uri="{FF2B5EF4-FFF2-40B4-BE49-F238E27FC236}">
                <a16:creationId xmlns:a16="http://schemas.microsoft.com/office/drawing/2014/main" id="{D95AAC38-CD96-AF0F-A9F1-9FE700386DCE}"/>
              </a:ext>
            </a:extLst>
          </p:cNvPr>
          <p:cNvSpPr/>
          <p:nvPr/>
        </p:nvSpPr>
        <p:spPr>
          <a:xfrm>
            <a:off x="9948672" y="2450592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123365F6-2A93-4397-AA95-9A4F4E58976A}"/>
              </a:ext>
            </a:extLst>
          </p:cNvPr>
          <p:cNvSpPr/>
          <p:nvPr/>
        </p:nvSpPr>
        <p:spPr>
          <a:xfrm>
            <a:off x="10012680" y="283464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25A6E674-7820-EE77-1B36-14D58088CACD}"/>
              </a:ext>
            </a:extLst>
          </p:cNvPr>
          <p:cNvSpPr/>
          <p:nvPr/>
        </p:nvSpPr>
        <p:spPr>
          <a:xfrm>
            <a:off x="10012680" y="3154680"/>
            <a:ext cx="13533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production model behind a review-queue dashboard</a:t>
            </a:r>
            <a:endParaRPr lang="en-US" sz="900" dirty="0"/>
          </a:p>
        </p:txBody>
      </p:sp>
      <p:sp>
        <p:nvSpPr>
          <p:cNvPr id="98" name="Text 31">
            <a:extLst>
              <a:ext uri="{FF2B5EF4-FFF2-40B4-BE49-F238E27FC236}">
                <a16:creationId xmlns:a16="http://schemas.microsoft.com/office/drawing/2014/main" id="{06A33E22-EECC-FD7C-C8B5-267ED12DF62C}"/>
              </a:ext>
            </a:extLst>
          </p:cNvPr>
          <p:cNvSpPr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use scikit-learn's Pipeline + ColumnTransformer throughout — preprocessing, class weighting, and the classifier travel together as one fitted object, eliminating train/test leakage risk. </a:t>
            </a: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 fixed at 42 throughout for full reproducibility. 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113" name="SK-5-img-3">
            <a:extLst>
              <a:ext uri="{FF2B5EF4-FFF2-40B4-BE49-F238E27FC236}">
                <a16:creationId xmlns:a16="http://schemas.microsoft.com/office/drawing/2014/main" id="{B20EA939-29D5-3EBD-0CFE-CE602684DA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74983" y="1358597"/>
            <a:ext cx="1336926" cy="336362"/>
          </a:xfrm>
          <a:prstGeom prst="rect">
            <a:avLst/>
          </a:prstGeom>
          <a:solidFill>
            <a:srgbClr val="C00000"/>
          </a:solidFill>
        </p:spPr>
      </p:pic>
      <p:pic>
        <p:nvPicPr>
          <p:cNvPr id="115" name="SK-5-img-3">
            <a:extLst>
              <a:ext uri="{FF2B5EF4-FFF2-40B4-BE49-F238E27FC236}">
                <a16:creationId xmlns:a16="http://schemas.microsoft.com/office/drawing/2014/main" id="{EDD2DD63-9083-9890-A7E2-C5003A279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580091" y="1328497"/>
            <a:ext cx="1336926" cy="336362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06" name="Shape 19">
            <a:extLst>
              <a:ext uri="{FF2B5EF4-FFF2-40B4-BE49-F238E27FC236}">
                <a16:creationId xmlns:a16="http://schemas.microsoft.com/office/drawing/2014/main" id="{4CBA2224-D80D-B32E-BB25-C87245BFB366}"/>
              </a:ext>
            </a:extLst>
          </p:cNvPr>
          <p:cNvSpPr/>
          <p:nvPr/>
        </p:nvSpPr>
        <p:spPr>
          <a:xfrm>
            <a:off x="552382" y="1217393"/>
            <a:ext cx="11055096" cy="706674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pPr>
              <a:lnSpc>
                <a:spcPts val="1890"/>
              </a:lnSpc>
            </a:pPr>
            <a:r>
              <a:rPr lang="en-US" sz="1400" dirty="0">
                <a:solidFill>
                  <a:srgbClr val="001D3D"/>
                </a:solidFill>
                <a:latin typeface="Montserrat" pitchFamily="34" charset="0"/>
              </a:rPr>
              <a:t>Profile a model that ranks transactions by risk well enough to prevent/alert fraudulent transactions &amp; support stakeholder decisions</a:t>
            </a:r>
            <a:endParaRPr lang="en-GB" sz="1400" dirty="0">
              <a:solidFill>
                <a:srgbClr val="001D3D"/>
              </a:solidFill>
              <a:latin typeface="Montserra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365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B6634-C6A9-3F28-FE57-3CFDF2CB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390483C-C6D6-18DB-4072-FEBB8B5467B0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9A06444-62E1-F323-B444-51A0B2326BD1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9378509-082F-6CA5-0EE9-14CD1A5B1262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1A67CE6-FF1B-12EA-F2CF-E9C1C90659D4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 0" descr="icon_shield.png">
            <a:extLst>
              <a:ext uri="{FF2B5EF4-FFF2-40B4-BE49-F238E27FC236}">
                <a16:creationId xmlns:a16="http://schemas.microsoft.com/office/drawing/2014/main" id="{CAAD6B4D-E661-4B04-E9AE-659D858BE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764" y="1547838"/>
            <a:ext cx="685800" cy="685800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5D6D58D8-AC10-C514-6221-53072B6E978F}"/>
              </a:ext>
            </a:extLst>
          </p:cNvPr>
          <p:cNvSpPr/>
          <p:nvPr/>
        </p:nvSpPr>
        <p:spPr>
          <a:xfrm>
            <a:off x="457200" y="693867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0" descr="icon_database.png">
            <a:extLst>
              <a:ext uri="{FF2B5EF4-FFF2-40B4-BE49-F238E27FC236}">
                <a16:creationId xmlns:a16="http://schemas.microsoft.com/office/drawing/2014/main" id="{F97CEE45-155E-4221-74FF-7D2992538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829930"/>
            <a:ext cx="294803" cy="294803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FD3FD1E2-ADBA-A495-6A19-185336CA43A0}"/>
              </a:ext>
            </a:extLst>
          </p:cNvPr>
          <p:cNvSpPr/>
          <p:nvPr/>
        </p:nvSpPr>
        <p:spPr>
          <a:xfrm>
            <a:off x="1188720" y="629859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1D3D"/>
                </a:solidFill>
                <a:latin typeface="Montserrat" pitchFamily="34" charset="0"/>
              </a:rPr>
              <a:t>The Data, and What Was Fixed 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F4D7A073-B0C8-02DF-F1BB-3C18F97D2FE5}"/>
              </a:ext>
            </a:extLst>
          </p:cNvPr>
          <p:cNvSpPr/>
          <p:nvPr/>
        </p:nvSpPr>
        <p:spPr>
          <a:xfrm>
            <a:off x="1188720" y="1068771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results start with an honest audit of the input data</a:t>
            </a:r>
            <a:endParaRPr lang="en-US" sz="1300" b="1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A6E4E8A9-A281-C916-07E5-2B38B6B838A9}"/>
              </a:ext>
            </a:extLst>
          </p:cNvPr>
          <p:cNvSpPr/>
          <p:nvPr/>
        </p:nvSpPr>
        <p:spPr>
          <a:xfrm>
            <a:off x="457200" y="1608267"/>
            <a:ext cx="2542032" cy="100584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366E1B3-3A31-7D1A-C043-B54BE5B53BE2}"/>
              </a:ext>
            </a:extLst>
          </p:cNvPr>
          <p:cNvSpPr/>
          <p:nvPr/>
        </p:nvSpPr>
        <p:spPr>
          <a:xfrm>
            <a:off x="548640" y="1699707"/>
            <a:ext cx="2359152" cy="56327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126,000</a:t>
            </a:r>
            <a:endParaRPr lang="en-US" sz="24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3E80997D-1450-3651-D5E1-BDDA3DAA5268}"/>
              </a:ext>
            </a:extLst>
          </p:cNvPr>
          <p:cNvSpPr/>
          <p:nvPr/>
        </p:nvSpPr>
        <p:spPr>
          <a:xfrm>
            <a:off x="548640" y="2211771"/>
            <a:ext cx="2359152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2025–2026</a:t>
            </a:r>
            <a:endParaRPr lang="en-US" sz="1050" b="1" dirty="0"/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899771E7-33C5-4292-172D-46A2E2222A1C}"/>
              </a:ext>
            </a:extLst>
          </p:cNvPr>
          <p:cNvSpPr/>
          <p:nvPr/>
        </p:nvSpPr>
        <p:spPr>
          <a:xfrm>
            <a:off x="3200400" y="1608267"/>
            <a:ext cx="2542032" cy="100584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5F5CA999-6888-3A3C-DE3D-4FE845E54C5A}"/>
              </a:ext>
            </a:extLst>
          </p:cNvPr>
          <p:cNvSpPr/>
          <p:nvPr/>
        </p:nvSpPr>
        <p:spPr>
          <a:xfrm>
            <a:off x="3291840" y="1699707"/>
            <a:ext cx="2359152" cy="56327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7,144</a:t>
            </a:r>
            <a:endParaRPr lang="en-US" sz="24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F8CF73FE-E5CC-F180-77FB-C794BD77DE86}"/>
              </a:ext>
            </a:extLst>
          </p:cNvPr>
          <p:cNvSpPr/>
          <p:nvPr/>
        </p:nvSpPr>
        <p:spPr>
          <a:xfrm>
            <a:off x="3291840" y="2211771"/>
            <a:ext cx="2359152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accounts (of 7,200 total</a:t>
            </a: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34" name="Shape 9">
            <a:extLst>
              <a:ext uri="{FF2B5EF4-FFF2-40B4-BE49-F238E27FC236}">
                <a16:creationId xmlns:a16="http://schemas.microsoft.com/office/drawing/2014/main" id="{102C1A86-A3FA-80C9-9E5A-A76D0EAA8A32}"/>
              </a:ext>
            </a:extLst>
          </p:cNvPr>
          <p:cNvSpPr/>
          <p:nvPr/>
        </p:nvSpPr>
        <p:spPr>
          <a:xfrm>
            <a:off x="5943600" y="1608267"/>
            <a:ext cx="2542032" cy="100584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1171685C-6050-BBE5-AECA-E506D13DB2CD}"/>
              </a:ext>
            </a:extLst>
          </p:cNvPr>
          <p:cNvSpPr/>
          <p:nvPr/>
        </p:nvSpPr>
        <p:spPr>
          <a:xfrm>
            <a:off x="6035040" y="1699707"/>
            <a:ext cx="2359152" cy="56327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FB5BBFC9-9166-5056-F8D1-C63869E55140}"/>
              </a:ext>
            </a:extLst>
          </p:cNvPr>
          <p:cNvSpPr/>
          <p:nvPr/>
        </p:nvSpPr>
        <p:spPr>
          <a:xfrm>
            <a:off x="6035040" y="2211771"/>
            <a:ext cx="2359152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transactions found</a:t>
            </a:r>
            <a:endParaRPr lang="en-US" sz="1050" b="1" dirty="0"/>
          </a:p>
        </p:txBody>
      </p:sp>
      <p:sp>
        <p:nvSpPr>
          <p:cNvPr id="40" name="Shape 12">
            <a:extLst>
              <a:ext uri="{FF2B5EF4-FFF2-40B4-BE49-F238E27FC236}">
                <a16:creationId xmlns:a16="http://schemas.microsoft.com/office/drawing/2014/main" id="{B6AC9869-3F83-49D2-1692-77DAA16FCB60}"/>
              </a:ext>
            </a:extLst>
          </p:cNvPr>
          <p:cNvSpPr/>
          <p:nvPr/>
        </p:nvSpPr>
        <p:spPr>
          <a:xfrm>
            <a:off x="8686800" y="1608267"/>
            <a:ext cx="2542032" cy="1005840"/>
          </a:xfrm>
          <a:prstGeom prst="roundRect">
            <a:avLst>
              <a:gd name="adj" fmla="val 818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451E06F5-36B0-CC0B-3534-F357422E1ED4}"/>
              </a:ext>
            </a:extLst>
          </p:cNvPr>
          <p:cNvSpPr/>
          <p:nvPr/>
        </p:nvSpPr>
        <p:spPr>
          <a:xfrm>
            <a:off x="8778240" y="1699707"/>
            <a:ext cx="2359152" cy="56327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400" dirty="0"/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866D581A-9779-7EA0-28FB-C725555E97D9}"/>
              </a:ext>
            </a:extLst>
          </p:cNvPr>
          <p:cNvSpPr/>
          <p:nvPr/>
        </p:nvSpPr>
        <p:spPr>
          <a:xfrm>
            <a:off x="8778240" y="2211771"/>
            <a:ext cx="2359152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Cleaned Data Headers</a:t>
            </a:r>
            <a:endParaRPr lang="en-US" sz="1050" b="1" dirty="0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75501966-B4F9-6DE3-0389-4E9DFA052AC8}"/>
              </a:ext>
            </a:extLst>
          </p:cNvPr>
          <p:cNvSpPr/>
          <p:nvPr/>
        </p:nvSpPr>
        <p:spPr>
          <a:xfrm>
            <a:off x="457199" y="2796986"/>
            <a:ext cx="5957047" cy="3714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D3D"/>
                </a:solidFill>
                <a:latin typeface="Montserrat" pitchFamily="34" charset="0"/>
              </a:rPr>
              <a:t>Data quality issues found and resolved before analysis:</a:t>
            </a:r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DABC589F-BFB8-D43C-6428-D96DC537D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76306"/>
              </p:ext>
            </p:extLst>
          </p:nvPr>
        </p:nvGraphicFramePr>
        <p:xfrm>
          <a:off x="708660" y="3256338"/>
          <a:ext cx="10995660" cy="3182112"/>
        </p:xfrm>
        <a:graphic>
          <a:graphicData uri="http://schemas.openxmlformats.org/drawingml/2006/table">
            <a:tbl>
              <a:tblPr/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Issue found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Scale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Resolution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Missing merchant name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28,610 rows (22.7%)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Confirmed as Payroll/P2P transfers with no merchant by design — filled, not an error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Missing device ID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14,334 rows (11.4%)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Treated conservatively as ‘unknown'; no novelty signal assumed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Negative transaction amounts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291 rows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Confirmed as refunds (all Retail category) — flagged as </a:t>
                      </a:r>
                      <a:r>
                        <a:rPr lang="en-US" sz="1250" kern="1200" dirty="0" err="1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is_refund</a:t>
                      </a: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 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Invalid 30-day spend baseline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147 rows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Replaced with the account's own median.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Inconsistent engineered ratio column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Dataset-wide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kern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+mn-ea"/>
                          <a:cs typeface="Calibri" pitchFamily="34" charset="-120"/>
                        </a:rPr>
                        <a:t>amount_to_avg_ratio recomputed directly from source fields for consistency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4" name="SK-5-text-7">
            <a:extLst>
              <a:ext uri="{FF2B5EF4-FFF2-40B4-BE49-F238E27FC236}">
                <a16:creationId xmlns:a16="http://schemas.microsoft.com/office/drawing/2014/main" id="{7A136303-AF4B-9A7B-EFA4-1220CAE7B146}"/>
              </a:ext>
            </a:extLst>
          </p:cNvPr>
          <p:cNvSpPr/>
          <p:nvPr/>
        </p:nvSpPr>
        <p:spPr>
          <a:xfrm>
            <a:off x="232733" y="370085"/>
            <a:ext cx="2087880" cy="17829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DATA OVERVIEW</a:t>
            </a:r>
          </a:p>
        </p:txBody>
      </p:sp>
    </p:spTree>
    <p:extLst>
      <p:ext uri="{BB962C8B-B14F-4D97-AF65-F5344CB8AC3E}">
        <p14:creationId xmlns:p14="http://schemas.microsoft.com/office/powerpoint/2010/main" val="3549396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F0C21-02A7-A468-7C60-6DEF5ADC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AF6D1-AE78-1225-C27E-9C553C33D212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1DD6D2-0B4E-4198-EAA1-8DCC40BC10B1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8DF8392-6767-72FF-1350-13CDFAC90902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CBF4E7-AD9C-076B-7DFB-ECAB7A8A06B2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6C243030-D6E3-61DF-5412-19E754BBF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71" y="1347788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2" name="SK-5-text-7">
            <a:extLst>
              <a:ext uri="{FF2B5EF4-FFF2-40B4-BE49-F238E27FC236}">
                <a16:creationId xmlns:a16="http://schemas.microsoft.com/office/drawing/2014/main" id="{5BD74845-EC95-528C-DD35-5ED9DBE9079C}"/>
              </a:ext>
            </a:extLst>
          </p:cNvPr>
          <p:cNvSpPr/>
          <p:nvPr/>
        </p:nvSpPr>
        <p:spPr>
          <a:xfrm>
            <a:off x="511969" y="398833"/>
            <a:ext cx="2087880" cy="17829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DATA OVERVIEW</a:t>
            </a:r>
          </a:p>
        </p:txBody>
      </p:sp>
      <p:sp>
        <p:nvSpPr>
          <p:cNvPr id="16" name="SK-5-text-8">
            <a:extLst>
              <a:ext uri="{FF2B5EF4-FFF2-40B4-BE49-F238E27FC236}">
                <a16:creationId xmlns:a16="http://schemas.microsoft.com/office/drawing/2014/main" id="{7006A28B-E90E-E6A0-CC23-07F3731BAFAB}"/>
              </a:ext>
            </a:extLst>
          </p:cNvPr>
          <p:cNvSpPr/>
          <p:nvPr/>
        </p:nvSpPr>
        <p:spPr>
          <a:xfrm>
            <a:off x="511969" y="691412"/>
            <a:ext cx="10986611" cy="53399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solidFill>
                  <a:srgbClr val="001A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126,000 transactions, 2.66% fraud rate, 97.34% Legitimate</a:t>
            </a:r>
            <a:endParaRPr lang="en-US" sz="28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773FC8-8E3D-4DEB-C933-B3CD646028BB}"/>
              </a:ext>
            </a:extLst>
          </p:cNvPr>
          <p:cNvGrpSpPr/>
          <p:nvPr/>
        </p:nvGrpSpPr>
        <p:grpSpPr>
          <a:xfrm>
            <a:off x="328247" y="5898441"/>
            <a:ext cx="5086752" cy="590556"/>
            <a:chOff x="6786921" y="1734638"/>
            <a:chExt cx="5086752" cy="590556"/>
          </a:xfrm>
        </p:grpSpPr>
        <p:pic>
          <p:nvPicPr>
            <p:cNvPr id="33" name="SK-5-img-3">
              <a:extLst>
                <a:ext uri="{FF2B5EF4-FFF2-40B4-BE49-F238E27FC236}">
                  <a16:creationId xmlns:a16="http://schemas.microsoft.com/office/drawing/2014/main" id="{E04B80B2-3FF2-DCD1-A06D-0BEF219858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6786921" y="1866448"/>
              <a:ext cx="1336926" cy="336362"/>
            </a:xfrm>
            <a:prstGeom prst="rect">
              <a:avLst/>
            </a:prstGeom>
            <a:solidFill>
              <a:srgbClr val="C00000"/>
            </a:solidFill>
          </p:spPr>
        </p:pic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8885B89-8005-81C9-47A1-917148322A25}"/>
                </a:ext>
              </a:extLst>
            </p:cNvPr>
            <p:cNvSpPr/>
            <p:nvPr/>
          </p:nvSpPr>
          <p:spPr>
            <a:xfrm>
              <a:off x="6927981" y="1734638"/>
              <a:ext cx="4945692" cy="590556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</p:spPr>
          <p:txBody>
            <a:bodyPr/>
            <a:lstStyle/>
            <a:p>
              <a:endParaRPr lang="en-GB" sz="1400" b="1">
                <a:solidFill>
                  <a:srgbClr val="6B7686"/>
                </a:solidFill>
                <a:latin typeface="Calibri" pitchFamily="34" charset="0"/>
                <a:cs typeface="Calibri" pitchFamily="34" charset="-120"/>
              </a:endParaRPr>
            </a:p>
          </p:txBody>
        </p:sp>
        <p:sp>
          <p:nvSpPr>
            <p:cNvPr id="27" name="SK-5-text-12">
              <a:extLst>
                <a:ext uri="{FF2B5EF4-FFF2-40B4-BE49-F238E27FC236}">
                  <a16:creationId xmlns:a16="http://schemas.microsoft.com/office/drawing/2014/main" id="{F10926B5-9537-509B-7CB8-8903A74EE331}"/>
                </a:ext>
              </a:extLst>
            </p:cNvPr>
            <p:cNvSpPr/>
            <p:nvPr/>
          </p:nvSpPr>
          <p:spPr>
            <a:xfrm>
              <a:off x="7050464" y="1954995"/>
              <a:ext cx="1773496" cy="166768"/>
            </a:xfrm>
            <a:prstGeom prst="rect">
              <a:avLst/>
            </a:prstGeom>
            <a:noFill/>
            <a:ln/>
          </p:spPr>
          <p:txBody>
            <a:bodyPr vert="horz" wrap="non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buNone/>
              </a:pPr>
              <a:r>
                <a:rPr lang="en-US" sz="1725" b="1" dirty="0">
                  <a:solidFill>
                    <a:srgbClr val="FFFFFF"/>
                  </a:solidFill>
                  <a:latin typeface="Montserrat" pitchFamily="34" charset="0"/>
                </a:rPr>
                <a:t>Target: Balance  the target variable .</a:t>
              </a:r>
              <a:endParaRPr lang="en-US" sz="1725" dirty="0"/>
            </a:p>
          </p:txBody>
        </p:sp>
      </p:grp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0E1D738-06BF-B39A-C886-D84B96A137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39036535"/>
              </p:ext>
            </p:extLst>
          </p:nvPr>
        </p:nvGraphicFramePr>
        <p:xfrm>
          <a:off x="6096000" y="1225405"/>
          <a:ext cx="5218934" cy="42366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2">
            <a:extLst>
              <a:ext uri="{FF2B5EF4-FFF2-40B4-BE49-F238E27FC236}">
                <a16:creationId xmlns:a16="http://schemas.microsoft.com/office/drawing/2014/main" id="{968544E9-E4B3-6B6B-87ED-D76CFAC99C4A}"/>
              </a:ext>
            </a:extLst>
          </p:cNvPr>
          <p:cNvSpPr/>
          <p:nvPr/>
        </p:nvSpPr>
        <p:spPr>
          <a:xfrm>
            <a:off x="469307" y="1896076"/>
            <a:ext cx="5346833" cy="1988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2000"/>
              </a:lnSpc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The merged data(account &amp; transactions) shows high level of data imbalance, confirming the reason for the failed fixed rule.</a:t>
            </a:r>
          </a:p>
          <a:p>
            <a:pPr>
              <a:lnSpc>
                <a:spcPct val="102000"/>
              </a:lnSpc>
            </a:pPr>
            <a:endParaRPr lang="en-US" sz="125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2000"/>
              </a:lnSpc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Model built of this , yields wrong risk scoring.</a:t>
            </a:r>
          </a:p>
          <a:p>
            <a:pPr>
              <a:lnSpc>
                <a:spcPct val="102000"/>
              </a:lnSpc>
            </a:pPr>
            <a:endParaRPr lang="en-US" sz="125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2000"/>
              </a:lnSpc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Engineer the data for better model performance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8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AB7E-BA6D-614D-7A2D-9156A8041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7144789-6D05-98C5-E0CF-167038C1EA3A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11B79B1-CC7D-7B30-D8ED-F13BED77C49C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61AD445-4EEF-6892-99CB-A7E89C482256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8F56C1-F205-4C13-C1A1-C4DEFA291462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 0" descr="icon_shield.png">
            <a:extLst>
              <a:ext uri="{FF2B5EF4-FFF2-40B4-BE49-F238E27FC236}">
                <a16:creationId xmlns:a16="http://schemas.microsoft.com/office/drawing/2014/main" id="{BF7FE98D-5F0C-FE09-0C03-9479181F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764" y="1547838"/>
            <a:ext cx="685800" cy="685800"/>
          </a:xfrm>
          <a:prstGeom prst="rect">
            <a:avLst/>
          </a:prstGeom>
        </p:spPr>
      </p:pic>
      <p:sp>
        <p:nvSpPr>
          <p:cNvPr id="54" name="SK-5-text-7">
            <a:extLst>
              <a:ext uri="{FF2B5EF4-FFF2-40B4-BE49-F238E27FC236}">
                <a16:creationId xmlns:a16="http://schemas.microsoft.com/office/drawing/2014/main" id="{23FFB13D-CFEF-2DDE-179B-75F8CC04DFC7}"/>
              </a:ext>
            </a:extLst>
          </p:cNvPr>
          <p:cNvSpPr/>
          <p:nvPr/>
        </p:nvSpPr>
        <p:spPr>
          <a:xfrm>
            <a:off x="301312" y="370084"/>
            <a:ext cx="3104827" cy="22462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EXPLORATORY DATA ANALYSIS</a:t>
            </a: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66CE46C4-E9FB-0E6F-C903-25C660AEA6F1}"/>
              </a:ext>
            </a:extLst>
          </p:cNvPr>
          <p:cNvSpPr/>
          <p:nvPr/>
        </p:nvSpPr>
        <p:spPr>
          <a:xfrm>
            <a:off x="335280" y="8610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0" descr="icon_trending_up.png">
            <a:extLst>
              <a:ext uri="{FF2B5EF4-FFF2-40B4-BE49-F238E27FC236}">
                <a16:creationId xmlns:a16="http://schemas.microsoft.com/office/drawing/2014/main" id="{FFB8813A-5F6F-471D-A5FE-C639F0433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43" y="997123"/>
            <a:ext cx="294803" cy="294803"/>
          </a:xfrm>
          <a:prstGeom prst="rect">
            <a:avLst/>
          </a:prstGeom>
        </p:spPr>
      </p:pic>
      <p:sp>
        <p:nvSpPr>
          <p:cNvPr id="14" name="Text 1">
            <a:extLst>
              <a:ext uri="{FF2B5EF4-FFF2-40B4-BE49-F238E27FC236}">
                <a16:creationId xmlns:a16="http://schemas.microsoft.com/office/drawing/2014/main" id="{E874DE5B-D6FF-0323-7641-3E19A28FB41F}"/>
              </a:ext>
            </a:extLst>
          </p:cNvPr>
          <p:cNvSpPr/>
          <p:nvPr/>
        </p:nvSpPr>
        <p:spPr>
          <a:xfrm>
            <a:off x="1066800" y="79705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Fraud Concentrates</a:t>
            </a:r>
            <a:endParaRPr lang="en-US" sz="26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782EDBA-F886-830E-E8A9-60F7E1DC3F52}"/>
              </a:ext>
            </a:extLst>
          </p:cNvPr>
          <p:cNvSpPr/>
          <p:nvPr/>
        </p:nvSpPr>
        <p:spPr>
          <a:xfrm>
            <a:off x="1066800" y="123596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is rare overall, but far from evenly distributed</a:t>
            </a:r>
            <a:endParaRPr lang="en-US" sz="1300" dirty="0"/>
          </a:p>
        </p:txBody>
      </p:sp>
      <p:graphicFrame>
        <p:nvGraphicFramePr>
          <p:cNvPr id="21" name="Chart 0">
            <a:extLst>
              <a:ext uri="{FF2B5EF4-FFF2-40B4-BE49-F238E27FC236}">
                <a16:creationId xmlns:a16="http://schemas.microsoft.com/office/drawing/2014/main" id="{5CC6E94B-96EC-601F-50A3-FD153AE65A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6612163"/>
              </p:ext>
            </p:extLst>
          </p:nvPr>
        </p:nvGraphicFramePr>
        <p:xfrm>
          <a:off x="609599" y="1785702"/>
          <a:ext cx="5890845" cy="3836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3">
            <a:extLst>
              <a:ext uri="{FF2B5EF4-FFF2-40B4-BE49-F238E27FC236}">
                <a16:creationId xmlns:a16="http://schemas.microsoft.com/office/drawing/2014/main" id="{A1C464E6-020F-CE79-F986-D20E22E843DB}"/>
              </a:ext>
            </a:extLst>
          </p:cNvPr>
          <p:cNvSpPr/>
          <p:nvPr/>
        </p:nvSpPr>
        <p:spPr>
          <a:xfrm>
            <a:off x="1853725" y="6073783"/>
            <a:ext cx="2288345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Overall average: 2.66%</a:t>
            </a: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C7B919-76A5-293D-2FA2-E87430132EB0}"/>
              </a:ext>
            </a:extLst>
          </p:cNvPr>
          <p:cNvSpPr/>
          <p:nvPr/>
        </p:nvSpPr>
        <p:spPr>
          <a:xfrm>
            <a:off x="7833360" y="1524000"/>
            <a:ext cx="4023360" cy="1481328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57DB7642-1E94-EB9E-CC7F-DBC88DF12256}"/>
              </a:ext>
            </a:extLst>
          </p:cNvPr>
          <p:cNvSpPr/>
          <p:nvPr/>
        </p:nvSpPr>
        <p:spPr>
          <a:xfrm>
            <a:off x="7924800" y="1615440"/>
            <a:ext cx="3840480" cy="8295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15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3.94%</a:t>
            </a:r>
            <a:endParaRPr lang="en-US" sz="260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861137CB-080E-43ED-4C20-000FD9E3BBE4}"/>
              </a:ext>
            </a:extLst>
          </p:cNvPr>
          <p:cNvSpPr/>
          <p:nvPr/>
        </p:nvSpPr>
        <p:spPr>
          <a:xfrm>
            <a:off x="7924800" y="2412797"/>
            <a:ext cx="3840480" cy="5629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algn="ctr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Business account fraud rate</a:t>
            </a: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09396CE3-14B9-C6AC-88A9-3B2414DCB5D0}"/>
              </a:ext>
            </a:extLst>
          </p:cNvPr>
          <p:cNvSpPr/>
          <p:nvPr/>
        </p:nvSpPr>
        <p:spPr>
          <a:xfrm>
            <a:off x="7833360" y="3188208"/>
            <a:ext cx="4023360" cy="1481328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ADD5ACB3-353D-23EA-0A99-48ED65E1EDD5}"/>
              </a:ext>
            </a:extLst>
          </p:cNvPr>
          <p:cNvSpPr/>
          <p:nvPr/>
        </p:nvSpPr>
        <p:spPr>
          <a:xfrm>
            <a:off x="7924800" y="3279648"/>
            <a:ext cx="3840480" cy="8295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1.98%</a:t>
            </a:r>
            <a:endParaRPr lang="en-US" sz="2600" dirty="0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A6A0C418-FC90-2E6C-E1A2-4B08D3AF33EA}"/>
              </a:ext>
            </a:extLst>
          </p:cNvPr>
          <p:cNvSpPr/>
          <p:nvPr/>
        </p:nvSpPr>
        <p:spPr>
          <a:xfrm>
            <a:off x="7924800" y="4077005"/>
            <a:ext cx="3840480" cy="5629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Individual account fraud rate</a:t>
            </a:r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25264AB5-6C32-0041-AFB4-E8061C2A5DD3}"/>
              </a:ext>
            </a:extLst>
          </p:cNvPr>
          <p:cNvSpPr/>
          <p:nvPr/>
        </p:nvSpPr>
        <p:spPr>
          <a:xfrm>
            <a:off x="7833360" y="4852416"/>
            <a:ext cx="4023360" cy="1481328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899DFA54-7532-F061-4638-9481F9484313}"/>
              </a:ext>
            </a:extLst>
          </p:cNvPr>
          <p:cNvSpPr/>
          <p:nvPr/>
        </p:nvSpPr>
        <p:spPr>
          <a:xfrm>
            <a:off x="7924800" y="4943856"/>
            <a:ext cx="3840480" cy="8295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15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2600" dirty="0"/>
          </a:p>
        </p:txBody>
      </p:sp>
      <p:sp>
        <p:nvSpPr>
          <p:cNvPr id="56" name="Text 12">
            <a:extLst>
              <a:ext uri="{FF2B5EF4-FFF2-40B4-BE49-F238E27FC236}">
                <a16:creationId xmlns:a16="http://schemas.microsoft.com/office/drawing/2014/main" id="{AF3C8941-49B7-8D23-716C-690569311B3C}"/>
              </a:ext>
            </a:extLst>
          </p:cNvPr>
          <p:cNvSpPr/>
          <p:nvPr/>
        </p:nvSpPr>
        <p:spPr>
          <a:xfrm>
            <a:off x="7924800" y="5741213"/>
            <a:ext cx="3840480" cy="5629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Business accounts carry ~2x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the fraud rate of Individual accounts</a:t>
            </a:r>
          </a:p>
        </p:txBody>
      </p:sp>
      <p:sp>
        <p:nvSpPr>
          <p:cNvPr id="58" name="Text 13">
            <a:extLst>
              <a:ext uri="{FF2B5EF4-FFF2-40B4-BE49-F238E27FC236}">
                <a16:creationId xmlns:a16="http://schemas.microsoft.com/office/drawing/2014/main" id="{BFEA10FF-ACC4-3D12-3927-BE8C097CF4CD}"/>
              </a:ext>
            </a:extLst>
          </p:cNvPr>
          <p:cNvSpPr/>
          <p:nvPr/>
        </p:nvSpPr>
        <p:spPr>
          <a:xfrm>
            <a:off x="609600" y="666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Finance Flow  |  Confidential — Internal Stakeholder Review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462497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4E4FD-EC5D-432C-2E2D-4C7C819B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721BA6-47E7-5EFC-8133-6EA29C752B05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BBB372-D8E0-D7B3-9C3E-BCF122FE854D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0561E7-C48F-8999-D664-B7DECB9626FA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94DD984-FAF7-0D22-B614-39F0D371B210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4" name="SK-5-text-7">
            <a:extLst>
              <a:ext uri="{FF2B5EF4-FFF2-40B4-BE49-F238E27FC236}">
                <a16:creationId xmlns:a16="http://schemas.microsoft.com/office/drawing/2014/main" id="{ED5D91F2-23BF-1C33-031B-5BD6B54AE773}"/>
              </a:ext>
            </a:extLst>
          </p:cNvPr>
          <p:cNvSpPr/>
          <p:nvPr/>
        </p:nvSpPr>
        <p:spPr>
          <a:xfrm>
            <a:off x="301312" y="370084"/>
            <a:ext cx="3104827" cy="22462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b="1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EXPLORATORY DATA ANALYSIS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01919938-EF96-DC27-74F3-647BE87093CC}"/>
              </a:ext>
            </a:extLst>
          </p:cNvPr>
          <p:cNvSpPr/>
          <p:nvPr/>
        </p:nvSpPr>
        <p:spPr>
          <a:xfrm>
            <a:off x="762000" y="7162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0" descr="icon_activity.png">
            <a:extLst>
              <a:ext uri="{FF2B5EF4-FFF2-40B4-BE49-F238E27FC236}">
                <a16:creationId xmlns:a16="http://schemas.microsoft.com/office/drawing/2014/main" id="{985949E4-BBD0-C044-3131-122DE94B6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063" y="852343"/>
            <a:ext cx="294803" cy="294803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E48A0142-0C03-C120-AB23-A6ED3FC9181C}"/>
              </a:ext>
            </a:extLst>
          </p:cNvPr>
          <p:cNvSpPr/>
          <p:nvPr/>
        </p:nvSpPr>
        <p:spPr>
          <a:xfrm>
            <a:off x="1493520" y="6522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Predicts Fraud</a:t>
            </a:r>
            <a:endParaRPr lang="en-US" sz="26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2B9BD54D-56C7-5231-9A15-806F6DEF861E}"/>
              </a:ext>
            </a:extLst>
          </p:cNvPr>
          <p:cNvSpPr/>
          <p:nvPr/>
        </p:nvSpPr>
        <p:spPr>
          <a:xfrm>
            <a:off x="1493520" y="109118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from the Random Forest — the signals the model leans on most</a:t>
            </a:r>
            <a:endParaRPr lang="en-US" sz="130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19C11C8A-E7DE-CD9F-8447-EF98608B185F}"/>
              </a:ext>
            </a:extLst>
          </p:cNvPr>
          <p:cNvSpPr/>
          <p:nvPr/>
        </p:nvSpPr>
        <p:spPr>
          <a:xfrm>
            <a:off x="8305800" y="1722120"/>
            <a:ext cx="3557953" cy="4206240"/>
          </a:xfrm>
          <a:prstGeom prst="roundRect">
            <a:avLst>
              <a:gd name="adj" fmla="val 1975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68AE024F-AEA5-60D1-7A1A-880D9EDFE0D6}"/>
              </a:ext>
            </a:extLst>
          </p:cNvPr>
          <p:cNvSpPr/>
          <p:nvPr/>
        </p:nvSpPr>
        <p:spPr>
          <a:xfrm>
            <a:off x="8534400" y="2270760"/>
            <a:ext cx="3291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b="1" dirty="0">
                <a:solidFill>
                  <a:srgbClr val="1E2761"/>
                </a:solidFill>
                <a:latin typeface="Arial"/>
              </a:rPr>
              <a:t>Two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761"/>
                </a:solidFill>
                <a:latin typeface="Arial"/>
              </a:rPr>
              <a:t>engineered behavioral features — amount relative to baseline, and transaction velocity drives ~75% of the model's predictive power.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b="1" dirty="0">
                <a:solidFill>
                  <a:srgbClr val="1E2761"/>
                </a:solidFill>
                <a:latin typeface="Arial"/>
              </a:rPr>
              <a:t>Fraud transactions average 152.6x the account's normal spend, vs. 3.99x for legitimate ones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b="1" dirty="0">
                <a:solidFill>
                  <a:srgbClr val="1E2761"/>
                </a:solidFill>
                <a:latin typeface="Arial"/>
              </a:rPr>
              <a:t>This directly informs which signals anchor any manual rules decision that remain.</a:t>
            </a:r>
          </a:p>
        </p:txBody>
      </p:sp>
      <p:graphicFrame>
        <p:nvGraphicFramePr>
          <p:cNvPr id="42" name="Chart 0">
            <a:extLst>
              <a:ext uri="{FF2B5EF4-FFF2-40B4-BE49-F238E27FC236}">
                <a16:creationId xmlns:a16="http://schemas.microsoft.com/office/drawing/2014/main" id="{FABB7A91-DBE8-C15B-D269-BF46BF1137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3743886"/>
              </p:ext>
            </p:extLst>
          </p:nvPr>
        </p:nvGraphicFramePr>
        <p:xfrm>
          <a:off x="457200" y="1417320"/>
          <a:ext cx="73152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CE1E837-184E-F75A-6CC7-47F73EBAA9D3}"/>
              </a:ext>
            </a:extLst>
          </p:cNvPr>
          <p:cNvSpPr/>
          <p:nvPr/>
        </p:nvSpPr>
        <p:spPr>
          <a:xfrm>
            <a:off x="8305799" y="1630680"/>
            <a:ext cx="3557953" cy="6096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8009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C5A26-EC57-7652-A3E6-FA4183BF5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E6EE8A-5689-462E-D221-6A7E0B5FCA06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57C37A1-338E-7211-71F9-4E91F1495356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E7B293-67D3-067C-E928-8EA9A86CC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835" y="298936"/>
            <a:ext cx="4601578" cy="6172197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F6728EF-4FCF-95D3-5AED-73F3A81DCE9F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C4BEB9-BE9A-074C-DCF4-D69FC4719EA8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4" name="SK-1-img-4">
            <a:extLst>
              <a:ext uri="{FF2B5EF4-FFF2-40B4-BE49-F238E27FC236}">
                <a16:creationId xmlns:a16="http://schemas.microsoft.com/office/drawing/2014/main" id="{1F14FCB1-7518-7C11-753A-D2A5407F6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48" y="6392739"/>
            <a:ext cx="5933687" cy="166320"/>
          </a:xfrm>
          <a:prstGeom prst="rect">
            <a:avLst/>
          </a:prstGeom>
        </p:spPr>
      </p:pic>
      <p:pic>
        <p:nvPicPr>
          <p:cNvPr id="15" name="SK-1-img-4">
            <a:extLst>
              <a:ext uri="{FF2B5EF4-FFF2-40B4-BE49-F238E27FC236}">
                <a16:creationId xmlns:a16="http://schemas.microsoft.com/office/drawing/2014/main" id="{3031967A-08D2-EA8A-543D-DCAB3C35D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92" y="316518"/>
            <a:ext cx="5933687" cy="166320"/>
          </a:xfrm>
          <a:prstGeom prst="rect">
            <a:avLst/>
          </a:prstGeom>
        </p:spPr>
      </p:pic>
      <p:sp>
        <p:nvSpPr>
          <p:cNvPr id="21" name="Title 5">
            <a:extLst>
              <a:ext uri="{FF2B5EF4-FFF2-40B4-BE49-F238E27FC236}">
                <a16:creationId xmlns:a16="http://schemas.microsoft.com/office/drawing/2014/main" id="{15C06673-0137-176B-8B46-53C48EDE94D1}"/>
              </a:ext>
            </a:extLst>
          </p:cNvPr>
          <p:cNvSpPr txBox="1">
            <a:spLocks/>
          </p:cNvSpPr>
          <p:nvPr/>
        </p:nvSpPr>
        <p:spPr>
          <a:xfrm>
            <a:off x="648522" y="2681017"/>
            <a:ext cx="4906458" cy="1582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Cambria" pitchFamily="34" charset="0"/>
                <a:ea typeface="Cambria" pitchFamily="34" charset="-122"/>
              </a:rPr>
              <a:t>Model Evaluation</a:t>
            </a:r>
          </a:p>
        </p:txBody>
      </p:sp>
      <p:sp>
        <p:nvSpPr>
          <p:cNvPr id="22" name="SK-1-text-8">
            <a:extLst>
              <a:ext uri="{FF2B5EF4-FFF2-40B4-BE49-F238E27FC236}">
                <a16:creationId xmlns:a16="http://schemas.microsoft.com/office/drawing/2014/main" id="{9633FA80-6CF0-5D03-3936-CF5A8EB0BA7F}"/>
              </a:ext>
            </a:extLst>
          </p:cNvPr>
          <p:cNvSpPr/>
          <p:nvPr/>
        </p:nvSpPr>
        <p:spPr>
          <a:xfrm>
            <a:off x="696737" y="4563555"/>
            <a:ext cx="6418898" cy="23991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25" dirty="0">
                <a:solidFill>
                  <a:schemeClr val="tx2">
                    <a:lumMod val="90000"/>
                    <a:lumOff val="10000"/>
                  </a:schemeClr>
                </a:solidFill>
                <a:latin typeface="Inter" pitchFamily="34" charset="0"/>
                <a:ea typeface="Inter" pitchFamily="34" charset="-122"/>
              </a:rPr>
              <a:t>Random Forest, Linear Regression, &amp; five more Benchmark models</a:t>
            </a:r>
            <a:endParaRPr lang="en-US" sz="1725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265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31662-8450-F891-9928-B4671B1A6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62DF38-EA66-564D-A6CE-3FCFEC741ACE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1CBCDA-DFE9-1B9D-B586-07218F3D975E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42E4289-9F11-A082-E2B8-B84DCAECD6F7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66495EE-3451-2C32-B1B4-B00868582CD8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47D5CF7A-34A5-5DFB-C983-4C773392A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64" y="1259600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4" name="Shape 0">
            <a:extLst>
              <a:ext uri="{FF2B5EF4-FFF2-40B4-BE49-F238E27FC236}">
                <a16:creationId xmlns:a16="http://schemas.microsoft.com/office/drawing/2014/main" id="{ABF682EF-C9B4-31CA-150F-9E9A8412E5BB}"/>
              </a:ext>
            </a:extLst>
          </p:cNvPr>
          <p:cNvSpPr/>
          <p:nvPr/>
        </p:nvSpPr>
        <p:spPr>
          <a:xfrm>
            <a:off x="362578" y="468037"/>
            <a:ext cx="566928" cy="54345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F680A9D2-82E4-B444-1EE3-3BE2D95F9923}"/>
              </a:ext>
            </a:extLst>
          </p:cNvPr>
          <p:cNvSpPr/>
          <p:nvPr/>
        </p:nvSpPr>
        <p:spPr>
          <a:xfrm>
            <a:off x="1007950" y="456734"/>
            <a:ext cx="11055096" cy="5987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1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Cambria" pitchFamily="34" charset="0"/>
                <a:ea typeface="Cambria" pitchFamily="34" charset="-122"/>
                <a:cs typeface="+mj-cs"/>
              </a:rPr>
              <a:t>Which of the baseline classifier performed well? </a:t>
            </a:r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957632C9-0A64-0734-48FC-397432065AB0}"/>
              </a:ext>
            </a:extLst>
          </p:cNvPr>
          <p:cNvSpPr/>
          <p:nvPr/>
        </p:nvSpPr>
        <p:spPr>
          <a:xfrm>
            <a:off x="822960" y="4401423"/>
            <a:ext cx="20871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graphicFrame>
        <p:nvGraphicFramePr>
          <p:cNvPr id="77" name="Chart 76">
            <a:extLst>
              <a:ext uri="{FF2B5EF4-FFF2-40B4-BE49-F238E27FC236}">
                <a16:creationId xmlns:a16="http://schemas.microsoft.com/office/drawing/2014/main" id="{E6A1F55F-D15B-7ACD-B7D9-543F18FF87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9168393"/>
              </p:ext>
            </p:extLst>
          </p:nvPr>
        </p:nvGraphicFramePr>
        <p:xfrm>
          <a:off x="624078" y="1457884"/>
          <a:ext cx="6541278" cy="4174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8" name="Image 1" descr="Database with solid fill">
            <a:extLst>
              <a:ext uri="{FF2B5EF4-FFF2-40B4-BE49-F238E27FC236}">
                <a16:creationId xmlns:a16="http://schemas.microsoft.com/office/drawing/2014/main" id="{5FDFB93D-9A70-97C6-9FDA-522D21C999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54376" y="531370"/>
            <a:ext cx="393192" cy="393192"/>
          </a:xfrm>
          <a:prstGeom prst="rect">
            <a:avLst/>
          </a:prstGeom>
        </p:spPr>
      </p:pic>
      <p:sp>
        <p:nvSpPr>
          <p:cNvPr id="80" name="Shape 3">
            <a:extLst>
              <a:ext uri="{FF2B5EF4-FFF2-40B4-BE49-F238E27FC236}">
                <a16:creationId xmlns:a16="http://schemas.microsoft.com/office/drawing/2014/main" id="{0626E9C9-914A-154F-6BFA-125354045BAA}"/>
              </a:ext>
            </a:extLst>
          </p:cNvPr>
          <p:cNvSpPr/>
          <p:nvPr/>
        </p:nvSpPr>
        <p:spPr>
          <a:xfrm>
            <a:off x="7933765" y="1549120"/>
            <a:ext cx="3783837" cy="4206240"/>
          </a:xfrm>
          <a:prstGeom prst="roundRect">
            <a:avLst>
              <a:gd name="adj" fmla="val 1975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82" name="Text 5">
            <a:extLst>
              <a:ext uri="{FF2B5EF4-FFF2-40B4-BE49-F238E27FC236}">
                <a16:creationId xmlns:a16="http://schemas.microsoft.com/office/drawing/2014/main" id="{6DDB3073-838C-2404-45FA-B0AA273F6E79}"/>
              </a:ext>
            </a:extLst>
          </p:cNvPr>
          <p:cNvSpPr/>
          <p:nvPr/>
        </p:nvSpPr>
        <p:spPr>
          <a:xfrm>
            <a:off x="8018929" y="3972280"/>
            <a:ext cx="3291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b="1" dirty="0">
                <a:solidFill>
                  <a:srgbClr val="1E2761"/>
                </a:solidFill>
                <a:latin typeface="Arial"/>
              </a:rPr>
              <a:t>SUMMARY: The need to improve model performance is important. Apply model model testing techniques.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211577F-5954-730E-DFBF-CFA7B1363E50}"/>
              </a:ext>
            </a:extLst>
          </p:cNvPr>
          <p:cNvGrpSpPr/>
          <p:nvPr/>
        </p:nvGrpSpPr>
        <p:grpSpPr>
          <a:xfrm>
            <a:off x="8322838" y="1939917"/>
            <a:ext cx="2912757" cy="1011841"/>
            <a:chOff x="8860720" y="1401745"/>
            <a:chExt cx="2912757" cy="1011841"/>
          </a:xfrm>
        </p:grpSpPr>
        <p:sp>
          <p:nvSpPr>
            <p:cNvPr id="62" name="Text 1">
              <a:extLst>
                <a:ext uri="{FF2B5EF4-FFF2-40B4-BE49-F238E27FC236}">
                  <a16:creationId xmlns:a16="http://schemas.microsoft.com/office/drawing/2014/main" id="{9AF7B907-12B6-4F59-B04E-28D5CCB32E52}"/>
                </a:ext>
              </a:extLst>
            </p:cNvPr>
            <p:cNvSpPr/>
            <p:nvPr/>
          </p:nvSpPr>
          <p:spPr>
            <a:xfrm>
              <a:off x="9101979" y="1401745"/>
              <a:ext cx="1996023" cy="458338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lnSpc>
                  <a:spcPct val="98000"/>
                </a:lnSpc>
              </a:pPr>
              <a:r>
                <a:rPr lang="en-US" sz="32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  </a:t>
              </a:r>
              <a:r>
                <a:rPr lang="en-US" sz="20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94.7% → 96%</a:t>
              </a:r>
              <a:endParaRPr lang="en-GB" sz="2000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63" name="Shape 19">
              <a:extLst>
                <a:ext uri="{FF2B5EF4-FFF2-40B4-BE49-F238E27FC236}">
                  <a16:creationId xmlns:a16="http://schemas.microsoft.com/office/drawing/2014/main" id="{4C3E9A3C-8704-C8D9-62F3-5D2B96088014}"/>
                </a:ext>
              </a:extLst>
            </p:cNvPr>
            <p:cNvSpPr/>
            <p:nvPr/>
          </p:nvSpPr>
          <p:spPr>
            <a:xfrm>
              <a:off x="8860720" y="1814842"/>
              <a:ext cx="2912757" cy="598744"/>
            </a:xfrm>
            <a:prstGeom prst="roundRect">
              <a:avLst>
                <a:gd name="adj" fmla="val 1333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/>
            <a:lstStyle/>
            <a:p>
              <a:r>
                <a:rPr lang="en-US" sz="1100" b="1" dirty="0">
                  <a:solidFill>
                    <a:srgbClr val="1E2761"/>
                  </a:solidFill>
                  <a:latin typeface="Arial"/>
                </a:rPr>
                <a:t>Model accuracies range for baseline LR &amp; RF. </a:t>
              </a:r>
              <a:endParaRPr lang="en-GB" sz="1100" b="1" dirty="0">
                <a:solidFill>
                  <a:srgbClr val="1E2761"/>
                </a:solidFill>
                <a:latin typeface="Arial"/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9EFF02B-4458-665F-A3A0-5420F69BAB81}"/>
              </a:ext>
            </a:extLst>
          </p:cNvPr>
          <p:cNvGrpSpPr/>
          <p:nvPr/>
        </p:nvGrpSpPr>
        <p:grpSpPr>
          <a:xfrm>
            <a:off x="8339369" y="2805582"/>
            <a:ext cx="2912757" cy="1036212"/>
            <a:chOff x="8884167" y="2320583"/>
            <a:chExt cx="2912757" cy="1036212"/>
          </a:xfrm>
        </p:grpSpPr>
        <p:sp>
          <p:nvSpPr>
            <p:cNvPr id="65" name="Text 1">
              <a:extLst>
                <a:ext uri="{FF2B5EF4-FFF2-40B4-BE49-F238E27FC236}">
                  <a16:creationId xmlns:a16="http://schemas.microsoft.com/office/drawing/2014/main" id="{DEEB9C47-7A9B-E048-143F-D008A82F9DD5}"/>
                </a:ext>
              </a:extLst>
            </p:cNvPr>
            <p:cNvSpPr/>
            <p:nvPr/>
          </p:nvSpPr>
          <p:spPr>
            <a:xfrm>
              <a:off x="8929886" y="2320583"/>
              <a:ext cx="2729138" cy="508901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>
                <a:lnSpc>
                  <a:spcPct val="98000"/>
                </a:lnSpc>
              </a:pPr>
              <a:r>
                <a:rPr lang="en-US" sz="32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  </a:t>
              </a:r>
              <a:r>
                <a:rPr lang="en-US" sz="20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38.20%  →  51.70% </a:t>
              </a:r>
              <a:endParaRPr lang="en-GB" sz="2000" b="1" dirty="0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  <a:p>
              <a:pPr marL="0" indent="0" algn="l">
                <a:lnSpc>
                  <a:spcPct val="98000"/>
                </a:lnSpc>
                <a:buNone/>
              </a:pPr>
              <a:r>
                <a:rPr lang="en-US" sz="3200" b="1" dirty="0"/>
                <a:t> </a:t>
              </a:r>
            </a:p>
          </p:txBody>
        </p:sp>
        <p:sp>
          <p:nvSpPr>
            <p:cNvPr id="66" name="Shape 19">
              <a:extLst>
                <a:ext uri="{FF2B5EF4-FFF2-40B4-BE49-F238E27FC236}">
                  <a16:creationId xmlns:a16="http://schemas.microsoft.com/office/drawing/2014/main" id="{64AD9A96-CE9B-6A58-4978-073591840554}"/>
                </a:ext>
              </a:extLst>
            </p:cNvPr>
            <p:cNvSpPr/>
            <p:nvPr/>
          </p:nvSpPr>
          <p:spPr>
            <a:xfrm>
              <a:off x="8884167" y="2758051"/>
              <a:ext cx="2912757" cy="598744"/>
            </a:xfrm>
            <a:prstGeom prst="roundRect">
              <a:avLst>
                <a:gd name="adj" fmla="val 1333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/>
            <a:lstStyle/>
            <a:p>
              <a:r>
                <a:rPr lang="en-US" sz="1100" b="1" dirty="0">
                  <a:solidFill>
                    <a:srgbClr val="1E2761"/>
                  </a:solidFill>
                  <a:latin typeface="Arial"/>
                </a:rPr>
                <a:t>Precision and F1_Score for both model fell lower than expected, key metric for performance evaluation.</a:t>
              </a:r>
              <a:endParaRPr lang="en-GB" sz="1100" b="1" dirty="0">
                <a:solidFill>
                  <a:srgbClr val="1E2761"/>
                </a:solidFill>
                <a:latin typeface="Arial"/>
              </a:endParaRPr>
            </a:p>
          </p:txBody>
        </p:sp>
      </p:grp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08C8FCE1-4235-BC24-0519-7A63BF8956F3}"/>
              </a:ext>
            </a:extLst>
          </p:cNvPr>
          <p:cNvSpPr/>
          <p:nvPr/>
        </p:nvSpPr>
        <p:spPr>
          <a:xfrm>
            <a:off x="7933765" y="1468574"/>
            <a:ext cx="3783837" cy="80546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6230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3817A-9C3F-1598-0D66-7C5BB6F2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FA1757-74A3-44E8-D269-E9572E4897A1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741CE5-08AF-92CB-CBBC-EF452D2C4318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D42557-5713-59C0-5D36-E5945B165034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4C9E8FF-C2B7-A3F3-9E22-9315E3BB97F0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2013D77A-89D2-2C78-F06C-955870B3E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64" y="1259600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14" name="Shape 0">
            <a:extLst>
              <a:ext uri="{FF2B5EF4-FFF2-40B4-BE49-F238E27FC236}">
                <a16:creationId xmlns:a16="http://schemas.microsoft.com/office/drawing/2014/main" id="{0BCFC3A7-88DB-DBCC-A5E7-D28723ACAED5}"/>
              </a:ext>
            </a:extLst>
          </p:cNvPr>
          <p:cNvSpPr/>
          <p:nvPr/>
        </p:nvSpPr>
        <p:spPr>
          <a:xfrm>
            <a:off x="362578" y="468037"/>
            <a:ext cx="566928" cy="54345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6" name="Image 0" descr="icon_layers.png">
            <a:extLst>
              <a:ext uri="{FF2B5EF4-FFF2-40B4-BE49-F238E27FC236}">
                <a16:creationId xmlns:a16="http://schemas.microsoft.com/office/drawing/2014/main" id="{4B8F2500-5EA0-E362-D6F8-C4C3E0E47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641" y="592830"/>
            <a:ext cx="294803" cy="282595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51CB2B15-F21B-53E1-D189-4B9FC0CD3783}"/>
              </a:ext>
            </a:extLst>
          </p:cNvPr>
          <p:cNvSpPr/>
          <p:nvPr/>
        </p:nvSpPr>
        <p:spPr>
          <a:xfrm>
            <a:off x="1005706" y="592830"/>
            <a:ext cx="10515600" cy="438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Seven Techniques, Benchmarked</a:t>
            </a:r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09C2B94E-C08B-DE96-E622-70586FFA9FD7}"/>
              </a:ext>
            </a:extLst>
          </p:cNvPr>
          <p:cNvSpPr/>
          <p:nvPr/>
        </p:nvSpPr>
        <p:spPr>
          <a:xfrm>
            <a:off x="1348153" y="1143166"/>
            <a:ext cx="10515600" cy="2804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train/test split, same metrics, for every model — at the default 0.5 decision threshold</a:t>
            </a:r>
            <a:endParaRPr lang="en-US" sz="1300" dirty="0"/>
          </a:p>
        </p:txBody>
      </p:sp>
      <p:graphicFrame>
        <p:nvGraphicFramePr>
          <p:cNvPr id="42" name="Table 0">
            <a:extLst>
              <a:ext uri="{FF2B5EF4-FFF2-40B4-BE49-F238E27FC236}">
                <a16:creationId xmlns:a16="http://schemas.microsoft.com/office/drawing/2014/main" id="{F6CCEE09-AB5A-47C8-38AF-4BE129B10E65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830339"/>
          <a:ext cx="11247120" cy="3646376"/>
        </p:xfrm>
        <a:graphic>
          <a:graphicData uri="http://schemas.openxmlformats.org/drawingml/2006/table">
            <a:tbl>
              <a:tblPr/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(tuned) + calibration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+ SMOTE oversampling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(Logistic Regression + RF)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 (balanced)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(hyperparameter-tuned)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(class-balanced)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7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 (HistGradientBoosting)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Text 3">
            <a:extLst>
              <a:ext uri="{FF2B5EF4-FFF2-40B4-BE49-F238E27FC236}">
                <a16:creationId xmlns:a16="http://schemas.microsoft.com/office/drawing/2014/main" id="{1B909502-8309-B4B4-24F8-0113761EB868}"/>
              </a:ext>
            </a:extLst>
          </p:cNvPr>
          <p:cNvSpPr/>
          <p:nvPr/>
        </p:nvSpPr>
        <p:spPr>
          <a:xfrm>
            <a:off x="469509" y="5634658"/>
            <a:ext cx="11247120" cy="6135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default threshold, calibrated Random Forest looks like the clear winner (F1 = 0.629). ROC-AUC — ranking quality independent of any threshold — is nearly identical across all seven (0.930–0.938), because the engineered behavioral features carry most of the separable signal regardless of algorithm.</a:t>
            </a:r>
            <a:endParaRPr lang="en-US" sz="1150" b="1" dirty="0"/>
          </a:p>
        </p:txBody>
      </p:sp>
    </p:spTree>
    <p:extLst>
      <p:ext uri="{BB962C8B-B14F-4D97-AF65-F5344CB8AC3E}">
        <p14:creationId xmlns:p14="http://schemas.microsoft.com/office/powerpoint/2010/main" val="2842760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A055-5281-0317-AE3D-490C706C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B9C24F4-68EA-F2C0-ED8C-EC4BC73F1544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CF3F7B8-55FC-A99F-6A16-C10545F503AD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80AFF3-A923-D986-C8D7-411C9131B0D9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8E56815-7200-9ADD-0418-0A3BA7FD2FC7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B5DF4E23-0192-E553-CA35-50AEE2EDE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47E5F077-E400-ED36-D1B1-8D19E3327A06}"/>
              </a:ext>
            </a:extLst>
          </p:cNvPr>
          <p:cNvSpPr/>
          <p:nvPr/>
        </p:nvSpPr>
        <p:spPr>
          <a:xfrm>
            <a:off x="457200" y="423785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8" name="Image 0" descr="icon_sliders.png">
            <a:extLst>
              <a:ext uri="{FF2B5EF4-FFF2-40B4-BE49-F238E27FC236}">
                <a16:creationId xmlns:a16="http://schemas.microsoft.com/office/drawing/2014/main" id="{357A6E4B-FB68-69BB-43E3-4D06D6912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59848"/>
            <a:ext cx="294803" cy="294803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47754E7D-D37E-8AAB-E7DF-D424C0104706}"/>
              </a:ext>
            </a:extLst>
          </p:cNvPr>
          <p:cNvSpPr/>
          <p:nvPr/>
        </p:nvSpPr>
        <p:spPr>
          <a:xfrm>
            <a:off x="1078897" y="548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The Single Biggest Lever: Threshold Tuning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761E65A9-158D-00BA-D382-22C921B12CC4}"/>
              </a:ext>
            </a:extLst>
          </p:cNvPr>
          <p:cNvSpPr/>
          <p:nvPr/>
        </p:nvSpPr>
        <p:spPr>
          <a:xfrm>
            <a:off x="1348153" y="101498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Every model above used a default 0.5 cutoff. Tuning each model's own threshold changes the ranking entirely.</a:t>
            </a: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9CCA1C12-1CD4-F697-F2ED-849F51451C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345673"/>
              </p:ext>
            </p:extLst>
          </p:nvPr>
        </p:nvGraphicFramePr>
        <p:xfrm>
          <a:off x="457200" y="1371600"/>
          <a:ext cx="7498080" cy="3803904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  ← production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(LR + RF)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(tuned) + calibration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(hyperparameter-tuned)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+ SMOTE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(class-balanced)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" name="Shape 3">
            <a:extLst>
              <a:ext uri="{FF2B5EF4-FFF2-40B4-BE49-F238E27FC236}">
                <a16:creationId xmlns:a16="http://schemas.microsoft.com/office/drawing/2014/main" id="{D3A38291-48B3-3041-CB21-13F8146225F9}"/>
              </a:ext>
            </a:extLst>
          </p:cNvPr>
          <p:cNvSpPr/>
          <p:nvPr/>
        </p:nvSpPr>
        <p:spPr>
          <a:xfrm>
            <a:off x="8229600" y="1371600"/>
            <a:ext cx="3474720" cy="4206240"/>
          </a:xfrm>
          <a:prstGeom prst="roundRect">
            <a:avLst>
              <a:gd name="adj" fmla="val 2105"/>
            </a:avLst>
          </a:prstGeom>
          <a:solidFill>
            <a:srgbClr val="C000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554E2281-C835-77F5-51DA-CA4CED7C95B1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D20A7485-439A-3113-3608-F91FF4EA8622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948E16B-195F-1E16-B8C6-EE9B32EBFAF3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A1E6E061-B868-64EB-CA83-07DDD0BCE4A0}"/>
              </a:ext>
            </a:extLst>
          </p:cNvPr>
          <p:cNvSpPr/>
          <p:nvPr/>
        </p:nvSpPr>
        <p:spPr>
          <a:xfrm>
            <a:off x="8458200" y="4206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decision threshold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126556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9A5C-C470-A79D-43D0-04DB1AA96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2BC7FD-DC0B-036D-CD86-12D886ECF4BD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CC9CE5-4152-619E-419E-4358D03899CA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05F16AB-31CB-AFDD-3451-1321A6CACF95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CE445C-1D97-13F0-3B9C-7C43398A569D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83A50616-2055-276B-98E8-602FB16721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73807123-5E53-D64E-BA3B-979EB8203902}"/>
              </a:ext>
            </a:extLst>
          </p:cNvPr>
          <p:cNvSpPr/>
          <p:nvPr/>
        </p:nvSpPr>
        <p:spPr>
          <a:xfrm>
            <a:off x="457200" y="423785"/>
            <a:ext cx="566928" cy="566928"/>
          </a:xfrm>
          <a:prstGeom prst="ellipse">
            <a:avLst/>
          </a:prstGeom>
          <a:solidFill>
            <a:srgbClr val="2C3875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8" name="Image 0" descr="icon_sliders.png">
            <a:extLst>
              <a:ext uri="{FF2B5EF4-FFF2-40B4-BE49-F238E27FC236}">
                <a16:creationId xmlns:a16="http://schemas.microsoft.com/office/drawing/2014/main" id="{422700C6-0273-2298-A6A6-7F174DC06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59848"/>
            <a:ext cx="294803" cy="294803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B18F746D-A881-22FB-C543-845F3297055F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4939E9B3-C0D2-E9BA-522E-35C847FD2D55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409580A5-9ADB-B930-9687-0B74A224C097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6C0F63E9-E8CE-B860-648F-80EB28DA649E}"/>
              </a:ext>
            </a:extLst>
          </p:cNvPr>
          <p:cNvSpPr/>
          <p:nvPr/>
        </p:nvSpPr>
        <p:spPr>
          <a:xfrm>
            <a:off x="8458200" y="4206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decision threshold</a:t>
            </a:r>
            <a:endParaRPr lang="en-US" sz="11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D1BADFC-9BD5-4D19-8B62-1CBD2A2987B7}"/>
              </a:ext>
            </a:extLst>
          </p:cNvPr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2" name="Image 0" descr="icon_check_circle.png">
            <a:extLst>
              <a:ext uri="{FF2B5EF4-FFF2-40B4-BE49-F238E27FC236}">
                <a16:creationId xmlns:a16="http://schemas.microsoft.com/office/drawing/2014/main" id="{4C75D47F-E27C-8C76-4E38-58BFF0BF59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B80C789B-7888-6635-ABD9-F9695E59354B}"/>
              </a:ext>
            </a:extLst>
          </p:cNvPr>
          <p:cNvSpPr/>
          <p:nvPr/>
        </p:nvSpPr>
        <p:spPr>
          <a:xfrm>
            <a:off x="1188720" y="3474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Production Model Decision</a:t>
            </a: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0EF91B4-B854-537B-A25E-C008CDB4BAD4}"/>
              </a:ext>
            </a:extLst>
          </p:cNvPr>
          <p:cNvSpPr/>
          <p:nvPr/>
        </p:nvSpPr>
        <p:spPr>
          <a:xfrm>
            <a:off x="1245713" y="101545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Regression, at its tuned threshold, ships as the scoring model</a:t>
            </a:r>
            <a:endParaRPr lang="en-US" sz="1300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B256D6BE-3347-32E7-F1DE-3E037970AF59}"/>
              </a:ext>
            </a:extLst>
          </p:cNvPr>
          <p:cNvSpPr/>
          <p:nvPr/>
        </p:nvSpPr>
        <p:spPr>
          <a:xfrm>
            <a:off x="457200" y="1371600"/>
            <a:ext cx="2542032" cy="1143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0A57FA19-4868-978D-593D-45BA74F0D62A}"/>
              </a:ext>
            </a:extLst>
          </p:cNvPr>
          <p:cNvSpPr/>
          <p:nvPr/>
        </p:nvSpPr>
        <p:spPr>
          <a:xfrm>
            <a:off x="548640" y="14630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81.5%</a:t>
            </a:r>
            <a:endParaRPr lang="en-US" sz="3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92F7D813-8CDA-8821-AE27-9157F694AACD}"/>
              </a:ext>
            </a:extLst>
          </p:cNvPr>
          <p:cNvSpPr/>
          <p:nvPr/>
        </p:nvSpPr>
        <p:spPr>
          <a:xfrm>
            <a:off x="548640" y="2057400"/>
            <a:ext cx="2359152" cy="434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threshold</a:t>
            </a:r>
            <a:endParaRPr lang="en-US" sz="1050" dirty="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CD08E878-CF94-93F9-7D5B-D5B12E6875A9}"/>
              </a:ext>
            </a:extLst>
          </p:cNvPr>
          <p:cNvSpPr/>
          <p:nvPr/>
        </p:nvSpPr>
        <p:spPr>
          <a:xfrm>
            <a:off x="3200400" y="1371600"/>
            <a:ext cx="2542032" cy="1143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9A3EB93D-0003-B5DB-AE98-429F98A55F57}"/>
              </a:ext>
            </a:extLst>
          </p:cNvPr>
          <p:cNvSpPr/>
          <p:nvPr/>
        </p:nvSpPr>
        <p:spPr>
          <a:xfrm>
            <a:off x="3291840" y="14630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63.0%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8806683B-F312-79D0-4722-A9AD206ECFDB}"/>
              </a:ext>
            </a:extLst>
          </p:cNvPr>
          <p:cNvSpPr/>
          <p:nvPr/>
        </p:nvSpPr>
        <p:spPr>
          <a:xfrm>
            <a:off x="3291840" y="2057400"/>
            <a:ext cx="2359152" cy="434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at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threshold</a:t>
            </a:r>
            <a:endParaRPr lang="en-US" sz="1050" dirty="0"/>
          </a:p>
        </p:txBody>
      </p:sp>
      <p:sp>
        <p:nvSpPr>
          <p:cNvPr id="38" name="Shape 9">
            <a:extLst>
              <a:ext uri="{FF2B5EF4-FFF2-40B4-BE49-F238E27FC236}">
                <a16:creationId xmlns:a16="http://schemas.microsoft.com/office/drawing/2014/main" id="{CED6A426-DFAD-C9A5-32DA-FB0A7618D5BD}"/>
              </a:ext>
            </a:extLst>
          </p:cNvPr>
          <p:cNvSpPr/>
          <p:nvPr/>
        </p:nvSpPr>
        <p:spPr>
          <a:xfrm>
            <a:off x="5943600" y="1371600"/>
            <a:ext cx="2542032" cy="1143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793BB43E-C564-F057-4812-175F9739B71F}"/>
              </a:ext>
            </a:extLst>
          </p:cNvPr>
          <p:cNvSpPr/>
          <p:nvPr/>
        </p:nvSpPr>
        <p:spPr>
          <a:xfrm>
            <a:off x="6035040" y="14630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0.711</a:t>
            </a:r>
            <a:endParaRPr lang="en-US" sz="3000" dirty="0">
              <a:solidFill>
                <a:srgbClr val="C00000"/>
              </a:solidFill>
            </a:endParaRPr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2BC1544A-F105-50C1-FE8C-BEFA44552BB1}"/>
              </a:ext>
            </a:extLst>
          </p:cNvPr>
          <p:cNvSpPr/>
          <p:nvPr/>
        </p:nvSpPr>
        <p:spPr>
          <a:xfrm>
            <a:off x="6035040" y="2057400"/>
            <a:ext cx="2359152" cy="434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—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7 techniques</a:t>
            </a:r>
            <a:endParaRPr lang="en-US" sz="1050" dirty="0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846C6030-2EE1-B4D0-02EF-8AB31EDE09C2}"/>
              </a:ext>
            </a:extLst>
          </p:cNvPr>
          <p:cNvSpPr/>
          <p:nvPr/>
        </p:nvSpPr>
        <p:spPr>
          <a:xfrm>
            <a:off x="8686800" y="1371600"/>
            <a:ext cx="2542032" cy="1143000"/>
          </a:xfrm>
          <a:prstGeom prst="roundRect">
            <a:avLst>
              <a:gd name="adj" fmla="val 7200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C9E3F8F1-89F0-D23F-5607-A7B7B43EE7E8}"/>
              </a:ext>
            </a:extLst>
          </p:cNvPr>
          <p:cNvSpPr/>
          <p:nvPr/>
        </p:nvSpPr>
        <p:spPr>
          <a:xfrm>
            <a:off x="8778240" y="14630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3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93.4%</a:t>
            </a:r>
            <a:endParaRPr lang="en-US" sz="30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8200B77A-4760-AC92-2D44-6818176A38F5}"/>
              </a:ext>
            </a:extLst>
          </p:cNvPr>
          <p:cNvSpPr/>
          <p:nvPr/>
        </p:nvSpPr>
        <p:spPr>
          <a:xfrm>
            <a:off x="8778240" y="2057400"/>
            <a:ext cx="2359152" cy="434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—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quality</a:t>
            </a:r>
            <a:endParaRPr lang="en-US" sz="10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35813987-4109-0BBB-FC42-C094F6EBA2AD}"/>
              </a:ext>
            </a:extLst>
          </p:cNvPr>
          <p:cNvSpPr/>
          <p:nvPr/>
        </p:nvSpPr>
        <p:spPr>
          <a:xfrm>
            <a:off x="457200" y="2743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Logistic Regression, not the Ensemble or a tuned Random Forest:</a:t>
            </a:r>
            <a:endParaRPr lang="en-US" sz="1300" dirty="0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3DF9CFF6-94CF-7A66-434B-CCA0ABD7737A}"/>
              </a:ext>
            </a:extLst>
          </p:cNvPr>
          <p:cNvSpPr/>
          <p:nvPr/>
        </p:nvSpPr>
        <p:spPr>
          <a:xfrm>
            <a:off x="457200" y="31546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7E81D682-6268-1CC7-1140-E7F8B79CB888}"/>
              </a:ext>
            </a:extLst>
          </p:cNvPr>
          <p:cNvSpPr/>
          <p:nvPr/>
        </p:nvSpPr>
        <p:spPr>
          <a:xfrm>
            <a:off x="457200" y="313639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7036B74-7E0F-A62E-C13B-1E5A9AD9B4C4}"/>
              </a:ext>
            </a:extLst>
          </p:cNvPr>
          <p:cNvSpPr/>
          <p:nvPr/>
        </p:nvSpPr>
        <p:spPr>
          <a:xfrm>
            <a:off x="822960" y="3035808"/>
            <a:ext cx="10881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 of all seven techniques benchmarked  —  </a:t>
            </a: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0.711 vs. 0.700 for the next-best option (the Ensemble) — and the Ensemble requires running two models in production instead of one.</a:t>
            </a:r>
            <a:endParaRPr lang="en-US" sz="1200" dirty="0"/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4EAFB8B3-9DB4-2AA8-DB6E-55DF0903846A}"/>
              </a:ext>
            </a:extLst>
          </p:cNvPr>
          <p:cNvSpPr/>
          <p:nvPr/>
        </p:nvSpPr>
        <p:spPr>
          <a:xfrm>
            <a:off x="457200" y="38404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50F84098-4DFB-B226-50C0-1B9C7C82BDE8}"/>
              </a:ext>
            </a:extLst>
          </p:cNvPr>
          <p:cNvSpPr/>
          <p:nvPr/>
        </p:nvSpPr>
        <p:spPr>
          <a:xfrm>
            <a:off x="457200" y="382219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555C8ABD-2F6B-C4B8-D8DD-F9F723367F50}"/>
              </a:ext>
            </a:extLst>
          </p:cNvPr>
          <p:cNvSpPr/>
          <p:nvPr/>
        </p:nvSpPr>
        <p:spPr>
          <a:xfrm>
            <a:off x="822960" y="3721608"/>
            <a:ext cx="10881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ROC-AUC trade-off  —  </a:t>
            </a: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0.934 vs. 0.938 for the Ensemble — a 0.004 difference that doesn't justify double the operational complexity.</a:t>
            </a:r>
            <a:endParaRPr lang="en-US" sz="1200" dirty="0"/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2A82782D-8F6C-0C1C-E907-4699FD1B5BF3}"/>
              </a:ext>
            </a:extLst>
          </p:cNvPr>
          <p:cNvSpPr/>
          <p:nvPr/>
        </p:nvSpPr>
        <p:spPr>
          <a:xfrm>
            <a:off x="457200" y="45262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23">
            <a:extLst>
              <a:ext uri="{FF2B5EF4-FFF2-40B4-BE49-F238E27FC236}">
                <a16:creationId xmlns:a16="http://schemas.microsoft.com/office/drawing/2014/main" id="{069A257B-C153-7D85-395C-F744FA8D8490}"/>
              </a:ext>
            </a:extLst>
          </p:cNvPr>
          <p:cNvSpPr/>
          <p:nvPr/>
        </p:nvSpPr>
        <p:spPr>
          <a:xfrm>
            <a:off x="457200" y="450799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B5F54F7A-A501-8AA2-16DC-5D697294074C}"/>
              </a:ext>
            </a:extLst>
          </p:cNvPr>
          <p:cNvSpPr/>
          <p:nvPr/>
        </p:nvSpPr>
        <p:spPr>
          <a:xfrm>
            <a:off x="822960" y="4407408"/>
            <a:ext cx="10881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Materially simpler to explain and audit  —  </a:t>
            </a: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model's coefficients map directly to "this signal raised/lowered the score by X" — critical for explaining a flag to an analyst, a customer, or a regulator.</a:t>
            </a:r>
            <a:endParaRPr lang="en-US" sz="1200" dirty="0"/>
          </a:p>
        </p:txBody>
      </p:sp>
      <p:sp>
        <p:nvSpPr>
          <p:cNvPr id="70" name="Shape 25">
            <a:extLst>
              <a:ext uri="{FF2B5EF4-FFF2-40B4-BE49-F238E27FC236}">
                <a16:creationId xmlns:a16="http://schemas.microsoft.com/office/drawing/2014/main" id="{6CD3F56A-87AA-9761-DB6A-35D7588DAD11}"/>
              </a:ext>
            </a:extLst>
          </p:cNvPr>
          <p:cNvSpPr/>
          <p:nvPr/>
        </p:nvSpPr>
        <p:spPr>
          <a:xfrm>
            <a:off x="457200" y="52120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E70533B-4CAB-CCC7-AACB-ADE6B95A98CA}"/>
              </a:ext>
            </a:extLst>
          </p:cNvPr>
          <p:cNvSpPr/>
          <p:nvPr/>
        </p:nvSpPr>
        <p:spPr>
          <a:xfrm>
            <a:off x="457200" y="519379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DCF45E30-91DA-5A6A-9723-54B9EEBB49E3}"/>
              </a:ext>
            </a:extLst>
          </p:cNvPr>
          <p:cNvSpPr/>
          <p:nvPr/>
        </p:nvSpPr>
        <p:spPr>
          <a:xfrm>
            <a:off x="822960" y="5093208"/>
            <a:ext cx="10881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and cheapest to maintain  —  </a:t>
            </a: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training and scoring, no hyperparameter surface to re-tune as data drifts.</a:t>
            </a:r>
            <a:endParaRPr lang="en-US" sz="1200" dirty="0"/>
          </a:p>
        </p:txBody>
      </p:sp>
      <p:sp>
        <p:nvSpPr>
          <p:cNvPr id="76" name="Text 28">
            <a:extLst>
              <a:ext uri="{FF2B5EF4-FFF2-40B4-BE49-F238E27FC236}">
                <a16:creationId xmlns:a16="http://schemas.microsoft.com/office/drawing/2014/main" id="{51CA0392-26CF-23CB-2D3B-4B41F7484AEA}"/>
              </a:ext>
            </a:extLst>
          </p:cNvPr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Random Forest is retained — not for scoring, but to power the dashboard's feature-importance explanations, where tree-based importances read more naturally than logistic coefficients.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264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EBC0F-9EAB-896C-79D4-F06461EFD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E6DA27-AAC0-8D84-8E9A-103579EFB7B7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A09127-0A63-85BB-8A42-CA0EABCF862F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977F48A-945F-F557-8131-25590D1F00D1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28870E-4082-E08E-A191-77E323510DD8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D7D9C5C4-DA19-5A90-2C81-C391580C3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76E82A7-6440-AA31-55C7-27F42AC14200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93F5E863-E76C-55AF-7BEB-BC13433949BF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744861DD-22AE-DB8F-AF25-53FCCAAFF1AF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EADDD7E8-D346-F169-C4BE-662914718963}"/>
              </a:ext>
            </a:extLst>
          </p:cNvPr>
          <p:cNvSpPr/>
          <p:nvPr/>
        </p:nvSpPr>
        <p:spPr>
          <a:xfrm>
            <a:off x="8458200" y="4206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decision threshold</a:t>
            </a:r>
            <a:endParaRPr lang="en-US" sz="1100" dirty="0"/>
          </a:p>
        </p:txBody>
      </p:sp>
      <p:sp>
        <p:nvSpPr>
          <p:cNvPr id="112" name="Shape 0">
            <a:extLst>
              <a:ext uri="{FF2B5EF4-FFF2-40B4-BE49-F238E27FC236}">
                <a16:creationId xmlns:a16="http://schemas.microsoft.com/office/drawing/2014/main" id="{E70919F1-0EBD-17DC-65F3-C9DBD35D9840}"/>
              </a:ext>
            </a:extLst>
          </p:cNvPr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14" name="Image 0" descr="icon_target.png">
            <a:extLst>
              <a:ext uri="{FF2B5EF4-FFF2-40B4-BE49-F238E27FC236}">
                <a16:creationId xmlns:a16="http://schemas.microsoft.com/office/drawing/2014/main" id="{E5C2E00D-8708-5A7A-1488-5052F7635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16" name="Text 1">
            <a:extLst>
              <a:ext uri="{FF2B5EF4-FFF2-40B4-BE49-F238E27FC236}">
                <a16:creationId xmlns:a16="http://schemas.microsoft.com/office/drawing/2014/main" id="{CAF04A9F-C7FC-50E9-EC3B-3992BDD11BBA}"/>
              </a:ext>
            </a:extLst>
          </p:cNvPr>
          <p:cNvSpPr/>
          <p:nvPr/>
        </p:nvSpPr>
        <p:spPr>
          <a:xfrm>
            <a:off x="1188720" y="3474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The Decision Stakeholders Need to Make</a:t>
            </a:r>
          </a:p>
        </p:txBody>
      </p:sp>
      <p:sp>
        <p:nvSpPr>
          <p:cNvPr id="118" name="Text 2">
            <a:extLst>
              <a:ext uri="{FF2B5EF4-FFF2-40B4-BE49-F238E27FC236}">
                <a16:creationId xmlns:a16="http://schemas.microsoft.com/office/drawing/2014/main" id="{567C76FF-77C5-C3E8-A5C2-D1979A3C2AB2}"/>
              </a:ext>
            </a:extLst>
          </p:cNvPr>
          <p:cNvSpPr/>
          <p:nvPr/>
        </p:nvSpPr>
        <p:spPr>
          <a:xfrm>
            <a:off x="1188720" y="78638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threshold is a business trade-off, not a data science one — set by analyst capacity</a:t>
            </a:r>
            <a:endParaRPr lang="en-US" sz="1300" dirty="0"/>
          </a:p>
        </p:txBody>
      </p:sp>
      <p:graphicFrame>
        <p:nvGraphicFramePr>
          <p:cNvPr id="120" name="Table 0">
            <a:extLst>
              <a:ext uri="{FF2B5EF4-FFF2-40B4-BE49-F238E27FC236}">
                <a16:creationId xmlns:a16="http://schemas.microsoft.com/office/drawing/2014/main" id="{BC8779F4-C775-3998-530B-FC0189D4A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033674"/>
              </p:ext>
            </p:extLst>
          </p:nvPr>
        </p:nvGraphicFramePr>
        <p:xfrm>
          <a:off x="457200" y="1417320"/>
          <a:ext cx="11247120" cy="190195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volume flagged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caught (test set)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 / 838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670 / 838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 / 838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2" name="Shape 3">
            <a:extLst>
              <a:ext uri="{FF2B5EF4-FFF2-40B4-BE49-F238E27FC236}">
                <a16:creationId xmlns:a16="http://schemas.microsoft.com/office/drawing/2014/main" id="{5BD1FE68-1167-B323-C492-F450736B31E4}"/>
              </a:ext>
            </a:extLst>
          </p:cNvPr>
          <p:cNvSpPr/>
          <p:nvPr/>
        </p:nvSpPr>
        <p:spPr>
          <a:xfrm>
            <a:off x="457200" y="3611880"/>
            <a:ext cx="3611880" cy="1965960"/>
          </a:xfrm>
          <a:prstGeom prst="roundRect">
            <a:avLst>
              <a:gd name="adj" fmla="val 3721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124" name="Text 4">
            <a:extLst>
              <a:ext uri="{FF2B5EF4-FFF2-40B4-BE49-F238E27FC236}">
                <a16:creationId xmlns:a16="http://schemas.microsoft.com/office/drawing/2014/main" id="{C738CCE7-7EA0-E06A-B271-FC706DCE7DFE}"/>
              </a:ext>
            </a:extLst>
          </p:cNvPr>
          <p:cNvSpPr/>
          <p:nvPr/>
        </p:nvSpPr>
        <p:spPr>
          <a:xfrm>
            <a:off x="68580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250" dirty="0"/>
          </a:p>
        </p:txBody>
      </p:sp>
      <p:sp>
        <p:nvSpPr>
          <p:cNvPr id="126" name="Text 5">
            <a:extLst>
              <a:ext uri="{FF2B5EF4-FFF2-40B4-BE49-F238E27FC236}">
                <a16:creationId xmlns:a16="http://schemas.microsoft.com/office/drawing/2014/main" id="{2EBDFA25-37E9-7551-0F12-246697B4CEBA}"/>
              </a:ext>
            </a:extLst>
          </p:cNvPr>
          <p:cNvSpPr/>
          <p:nvPr/>
        </p:nvSpPr>
        <p:spPr>
          <a:xfrm>
            <a:off x="685800" y="4069080"/>
            <a:ext cx="3200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recall: a small, high-confidence queue (2.9% of volume). Best when review capacity is limited — catches the most obvious fraud with minimal false-positive noise.</a:t>
            </a:r>
            <a:endParaRPr lang="en-US" sz="1100" dirty="0"/>
          </a:p>
        </p:txBody>
      </p:sp>
      <p:sp>
        <p:nvSpPr>
          <p:cNvPr id="128" name="Shape 6">
            <a:extLst>
              <a:ext uri="{FF2B5EF4-FFF2-40B4-BE49-F238E27FC236}">
                <a16:creationId xmlns:a16="http://schemas.microsoft.com/office/drawing/2014/main" id="{F330D856-CAE6-C9AB-5406-E13B3B4AC057}"/>
              </a:ext>
            </a:extLst>
          </p:cNvPr>
          <p:cNvSpPr/>
          <p:nvPr/>
        </p:nvSpPr>
        <p:spPr>
          <a:xfrm>
            <a:off x="4279392" y="3611880"/>
            <a:ext cx="3611880" cy="1965960"/>
          </a:xfrm>
          <a:prstGeom prst="roundRect">
            <a:avLst>
              <a:gd name="adj" fmla="val 3721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0" name="Text 7">
            <a:extLst>
              <a:ext uri="{FF2B5EF4-FFF2-40B4-BE49-F238E27FC236}">
                <a16:creationId xmlns:a16="http://schemas.microsoft.com/office/drawing/2014/main" id="{CE11C639-4A91-55DF-2F9F-23CF05F0AAB9}"/>
              </a:ext>
            </a:extLst>
          </p:cNvPr>
          <p:cNvSpPr/>
          <p:nvPr/>
        </p:nvSpPr>
        <p:spPr>
          <a:xfrm>
            <a:off x="4507992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 (suggested start)</a:t>
            </a:r>
            <a:endParaRPr lang="en-US" sz="1250" dirty="0"/>
          </a:p>
        </p:txBody>
      </p:sp>
      <p:sp>
        <p:nvSpPr>
          <p:cNvPr id="132" name="Text 8">
            <a:extLst>
              <a:ext uri="{FF2B5EF4-FFF2-40B4-BE49-F238E27FC236}">
                <a16:creationId xmlns:a16="http://schemas.microsoft.com/office/drawing/2014/main" id="{4CB8A937-F7C6-935F-E4EB-E1F53548E4C9}"/>
              </a:ext>
            </a:extLst>
          </p:cNvPr>
          <p:cNvSpPr/>
          <p:nvPr/>
        </p:nvSpPr>
        <p:spPr>
          <a:xfrm>
            <a:off x="4507992" y="4069080"/>
            <a:ext cx="3200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recall: catches 4 in 5 fraud cases at 5.6% of volume flagged. A reasonable starting operating point for most analyst teams — revisit after the first review cycle.</a:t>
            </a:r>
            <a:endParaRPr lang="en-US" sz="1100" dirty="0"/>
          </a:p>
        </p:txBody>
      </p:sp>
      <p:sp>
        <p:nvSpPr>
          <p:cNvPr id="134" name="Shape 9">
            <a:extLst>
              <a:ext uri="{FF2B5EF4-FFF2-40B4-BE49-F238E27FC236}">
                <a16:creationId xmlns:a16="http://schemas.microsoft.com/office/drawing/2014/main" id="{8984DB69-785B-6185-A24E-317C4FED3878}"/>
              </a:ext>
            </a:extLst>
          </p:cNvPr>
          <p:cNvSpPr/>
          <p:nvPr/>
        </p:nvSpPr>
        <p:spPr>
          <a:xfrm>
            <a:off x="8092440" y="361188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C000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6" name="Text 10">
            <a:extLst>
              <a:ext uri="{FF2B5EF4-FFF2-40B4-BE49-F238E27FC236}">
                <a16:creationId xmlns:a16="http://schemas.microsoft.com/office/drawing/2014/main" id="{40E1CEB9-C3F8-A90D-64B7-6EE701877948}"/>
              </a:ext>
            </a:extLst>
          </p:cNvPr>
          <p:cNvSpPr/>
          <p:nvPr/>
        </p:nvSpPr>
        <p:spPr>
          <a:xfrm>
            <a:off x="832104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138" name="Text 11">
            <a:extLst>
              <a:ext uri="{FF2B5EF4-FFF2-40B4-BE49-F238E27FC236}">
                <a16:creationId xmlns:a16="http://schemas.microsoft.com/office/drawing/2014/main" id="{0CE5900F-17F0-A029-47FB-AF6F7B48242C}"/>
              </a:ext>
            </a:extLst>
          </p:cNvPr>
          <p:cNvSpPr/>
          <p:nvPr/>
        </p:nvSpPr>
        <p:spPr>
          <a:xfrm>
            <a:off x="8321040" y="4069080"/>
            <a:ext cx="3200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recall: catches nearly all fraud, but nearly 1 in 4 transactions lands in the queue. Only viable with significant analyst headcount.</a:t>
            </a:r>
            <a:endParaRPr lang="en-US" sz="1100" dirty="0"/>
          </a:p>
        </p:txBody>
      </p:sp>
      <p:sp>
        <p:nvSpPr>
          <p:cNvPr id="140" name="Text 12">
            <a:extLst>
              <a:ext uri="{FF2B5EF4-FFF2-40B4-BE49-F238E27FC236}">
                <a16:creationId xmlns:a16="http://schemas.microsoft.com/office/drawing/2014/main" id="{44596202-5E2C-E488-E959-74CC8B186B49}"/>
              </a:ext>
            </a:extLst>
          </p:cNvPr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threshold is adjustable at any time in the dashboard — it is a business dial, not a fixed model property.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676412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76D07-C911-E4CB-1669-8F8147CCF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43E3F30-D363-0331-E1E6-145625ACDCFE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F6E772-14C5-23EB-BC2A-C30FD3A77C37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FC9BA9-E5A4-931F-C84D-06B081C8BB5D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58A67BC-38C8-33EE-9ADF-1C8370595FAE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D6C145CE-1597-F499-59DD-3203E1C19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16766A92-0432-8245-A9EC-63938BC84381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98C0A90F-4F14-2A06-48E5-BFBE6F3EDC50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3F98F9DA-8278-28ED-AE27-CBD18572F46B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pic>
        <p:nvPicPr>
          <p:cNvPr id="114" name="Image 0" descr="icon_target.png">
            <a:extLst>
              <a:ext uri="{FF2B5EF4-FFF2-40B4-BE49-F238E27FC236}">
                <a16:creationId xmlns:a16="http://schemas.microsoft.com/office/drawing/2014/main" id="{13415984-8C2D-89DE-6A4B-8AD5CD616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36" name="Text 10">
            <a:extLst>
              <a:ext uri="{FF2B5EF4-FFF2-40B4-BE49-F238E27FC236}">
                <a16:creationId xmlns:a16="http://schemas.microsoft.com/office/drawing/2014/main" id="{DBDFF772-C31F-2EFE-D14D-7A8058C253CB}"/>
              </a:ext>
            </a:extLst>
          </p:cNvPr>
          <p:cNvSpPr/>
          <p:nvPr/>
        </p:nvSpPr>
        <p:spPr>
          <a:xfrm>
            <a:off x="832104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4E71F62-8B20-0D21-7A03-5A243626DDA9}"/>
              </a:ext>
            </a:extLst>
          </p:cNvPr>
          <p:cNvSpPr/>
          <p:nvPr/>
        </p:nvSpPr>
        <p:spPr>
          <a:xfrm>
            <a:off x="609600" y="429410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8" name="Image 0" descr="icon_monitor.png">
            <a:extLst>
              <a:ext uri="{FF2B5EF4-FFF2-40B4-BE49-F238E27FC236}">
                <a16:creationId xmlns:a16="http://schemas.microsoft.com/office/drawing/2014/main" id="{CC27C9ED-DF0D-8C23-1503-76954A12F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63" y="578920"/>
            <a:ext cx="294803" cy="294803"/>
          </a:xfrm>
          <a:prstGeom prst="rect">
            <a:avLst/>
          </a:prstGeom>
        </p:spPr>
      </p:pic>
      <p:sp>
        <p:nvSpPr>
          <p:cNvPr id="12" name="Text 1">
            <a:extLst>
              <a:ext uri="{FF2B5EF4-FFF2-40B4-BE49-F238E27FC236}">
                <a16:creationId xmlns:a16="http://schemas.microsoft.com/office/drawing/2014/main" id="{CEB609F0-BCC6-5CDD-2DC6-CBE204804CBB}"/>
              </a:ext>
            </a:extLst>
          </p:cNvPr>
          <p:cNvSpPr/>
          <p:nvPr/>
        </p:nvSpPr>
        <p:spPr>
          <a:xfrm>
            <a:off x="1341120" y="4998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From Score to Action: The Review Queue</a:t>
            </a:r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8C8C4C40-FEA1-2CA8-4877-29362C95DCFE}"/>
              </a:ext>
            </a:extLst>
          </p:cNvPr>
          <p:cNvSpPr/>
          <p:nvPr/>
        </p:nvSpPr>
        <p:spPr>
          <a:xfrm>
            <a:off x="1341120" y="104546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Streamlit dashboard, ready for analyst use today</a:t>
            </a:r>
            <a:endParaRPr lang="en-US" sz="13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FAC8F23E-5E6F-1E72-D05C-A71AE6B6E6D0}"/>
              </a:ext>
            </a:extLst>
          </p:cNvPr>
          <p:cNvSpPr/>
          <p:nvPr/>
        </p:nvSpPr>
        <p:spPr>
          <a:xfrm>
            <a:off x="609600" y="156972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A90458A0-CF23-B2F0-CAFB-026DF641DC0A}"/>
              </a:ext>
            </a:extLst>
          </p:cNvPr>
          <p:cNvSpPr/>
          <p:nvPr/>
        </p:nvSpPr>
        <p:spPr>
          <a:xfrm>
            <a:off x="838200" y="16611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toggle</a:t>
            </a:r>
            <a:endParaRPr lang="en-US" sz="125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9ADA27DD-AC8E-67F6-251C-217E6A66C869}"/>
              </a:ext>
            </a:extLst>
          </p:cNvPr>
          <p:cNvSpPr/>
          <p:nvPr/>
        </p:nvSpPr>
        <p:spPr>
          <a:xfrm>
            <a:off x="838200" y="195376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the production model and the Random Forest explainability view</a:t>
            </a:r>
            <a:endParaRPr lang="en-US" sz="105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0D792706-48FE-E370-7B80-455F2CC94B27}"/>
              </a:ext>
            </a:extLst>
          </p:cNvPr>
          <p:cNvSpPr/>
          <p:nvPr/>
        </p:nvSpPr>
        <p:spPr>
          <a:xfrm>
            <a:off x="6370320" y="156972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DAB3D10A-1970-B43F-F21D-19FB442ED1C4}"/>
              </a:ext>
            </a:extLst>
          </p:cNvPr>
          <p:cNvSpPr/>
          <p:nvPr/>
        </p:nvSpPr>
        <p:spPr>
          <a:xfrm>
            <a:off x="6598920" y="16611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control</a:t>
            </a:r>
            <a:endParaRPr lang="en-US" sz="1250" dirty="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C5299F83-1DA4-90E6-3E7C-8AB049730571}"/>
              </a:ext>
            </a:extLst>
          </p:cNvPr>
          <p:cNvSpPr/>
          <p:nvPr/>
        </p:nvSpPr>
        <p:spPr>
          <a:xfrm>
            <a:off x="6598920" y="195376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model's tuned F1 threshold, a target recall (70/80/90%), or a manual cutoff</a:t>
            </a:r>
            <a:endParaRPr lang="en-US" sz="105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0B1B1647-2F11-6F48-806E-2AFD7D96CBB3}"/>
              </a:ext>
            </a:extLst>
          </p:cNvPr>
          <p:cNvSpPr/>
          <p:nvPr/>
        </p:nvSpPr>
        <p:spPr>
          <a:xfrm>
            <a:off x="609600" y="280416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8B3BA99-2964-24B4-C19D-376D77685632}"/>
              </a:ext>
            </a:extLst>
          </p:cNvPr>
          <p:cNvSpPr/>
          <p:nvPr/>
        </p:nvSpPr>
        <p:spPr>
          <a:xfrm>
            <a:off x="838200" y="28956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queue</a:t>
            </a:r>
            <a:endParaRPr lang="en-US" sz="1250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8A7CBF4F-5E7F-E453-9923-68661864B756}"/>
              </a:ext>
            </a:extLst>
          </p:cNvPr>
          <p:cNvSpPr/>
          <p:nvPr/>
        </p:nvSpPr>
        <p:spPr>
          <a:xfrm>
            <a:off x="838200" y="318820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transactions ranked by risk score, highest first</a:t>
            </a:r>
            <a:endParaRPr lang="en-US" sz="105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FDF674BA-19F6-4643-E4F9-A10AF029C6C8}"/>
              </a:ext>
            </a:extLst>
          </p:cNvPr>
          <p:cNvSpPr/>
          <p:nvPr/>
        </p:nvSpPr>
        <p:spPr>
          <a:xfrm>
            <a:off x="6370320" y="280416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7BF9343-7083-701A-E5FD-40C4A8258327}"/>
              </a:ext>
            </a:extLst>
          </p:cNvPr>
          <p:cNvSpPr/>
          <p:nvPr/>
        </p:nvSpPr>
        <p:spPr>
          <a:xfrm>
            <a:off x="6598920" y="28956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</a:t>
            </a:r>
            <a:endParaRPr lang="en-US" sz="12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BEB2EBD8-69B9-F9A4-A92A-7FDD60ACBD29}"/>
              </a:ext>
            </a:extLst>
          </p:cNvPr>
          <p:cNvSpPr/>
          <p:nvPr/>
        </p:nvSpPr>
        <p:spPr>
          <a:xfrm>
            <a:off x="6598920" y="318820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 shows why — e.g. "amount is 12.3x normal spend; high-risk category (Wire Transfer)"</a:t>
            </a:r>
            <a:endParaRPr lang="en-US" sz="1050" dirty="0"/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3F3F94A8-941E-3552-8025-5A72D52DB0CF}"/>
              </a:ext>
            </a:extLst>
          </p:cNvPr>
          <p:cNvSpPr/>
          <p:nvPr/>
        </p:nvSpPr>
        <p:spPr>
          <a:xfrm>
            <a:off x="609600" y="403860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BE7F86A-CCCB-E8CA-7525-A33006357FA5}"/>
              </a:ext>
            </a:extLst>
          </p:cNvPr>
          <p:cNvSpPr/>
          <p:nvPr/>
        </p:nvSpPr>
        <p:spPr>
          <a:xfrm>
            <a:off x="838200" y="41300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sz="1250" dirty="0"/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CCBCFD96-1296-107E-BBDD-A0FFAF5B9D80}"/>
              </a:ext>
            </a:extLst>
          </p:cNvPr>
          <p:cNvSpPr/>
          <p:nvPr/>
        </p:nvSpPr>
        <p:spPr>
          <a:xfrm>
            <a:off x="838200" y="442264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 type, channel, and merchant category</a:t>
            </a:r>
            <a:endParaRPr lang="en-US" sz="1050" dirty="0"/>
          </a:p>
        </p:txBody>
      </p:sp>
      <p:sp>
        <p:nvSpPr>
          <p:cNvPr id="50" name="Shape 18">
            <a:extLst>
              <a:ext uri="{FF2B5EF4-FFF2-40B4-BE49-F238E27FC236}">
                <a16:creationId xmlns:a16="http://schemas.microsoft.com/office/drawing/2014/main" id="{2972B80B-88B6-6E61-30F5-34080E97EC19}"/>
              </a:ext>
            </a:extLst>
          </p:cNvPr>
          <p:cNvSpPr/>
          <p:nvPr/>
        </p:nvSpPr>
        <p:spPr>
          <a:xfrm>
            <a:off x="6370320" y="403860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52" name="Text 19">
            <a:extLst>
              <a:ext uri="{FF2B5EF4-FFF2-40B4-BE49-F238E27FC236}">
                <a16:creationId xmlns:a16="http://schemas.microsoft.com/office/drawing/2014/main" id="{3C16EFA9-9F24-0522-1884-1A11E3C06BC2}"/>
              </a:ext>
            </a:extLst>
          </p:cNvPr>
          <p:cNvSpPr/>
          <p:nvPr/>
        </p:nvSpPr>
        <p:spPr>
          <a:xfrm>
            <a:off x="6598920" y="41300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drill-down</a:t>
            </a:r>
            <a:endParaRPr lang="en-US" sz="1250" dirty="0"/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CBCE04C9-ED0E-9FC3-742A-838049332671}"/>
              </a:ext>
            </a:extLst>
          </p:cNvPr>
          <p:cNvSpPr/>
          <p:nvPr/>
        </p:nvSpPr>
        <p:spPr>
          <a:xfrm>
            <a:off x="6598920" y="442264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full feature breakdown behind any individual score</a:t>
            </a:r>
            <a:endParaRPr lang="en-US" sz="1050" dirty="0"/>
          </a:p>
        </p:txBody>
      </p:sp>
      <p:sp>
        <p:nvSpPr>
          <p:cNvPr id="56" name="Shape 21">
            <a:extLst>
              <a:ext uri="{FF2B5EF4-FFF2-40B4-BE49-F238E27FC236}">
                <a16:creationId xmlns:a16="http://schemas.microsoft.com/office/drawing/2014/main" id="{0432D76F-B7CD-B010-2F1A-2E384142E6C3}"/>
              </a:ext>
            </a:extLst>
          </p:cNvPr>
          <p:cNvSpPr/>
          <p:nvPr/>
        </p:nvSpPr>
        <p:spPr>
          <a:xfrm>
            <a:off x="609600" y="5273040"/>
            <a:ext cx="5486400" cy="1078992"/>
          </a:xfrm>
          <a:prstGeom prst="roundRect">
            <a:avLst>
              <a:gd name="adj" fmla="val 5932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58" name="Text 22">
            <a:extLst>
              <a:ext uri="{FF2B5EF4-FFF2-40B4-BE49-F238E27FC236}">
                <a16:creationId xmlns:a16="http://schemas.microsoft.com/office/drawing/2014/main" id="{E6A37C53-968C-F35D-1E07-2A40F81AE5E4}"/>
              </a:ext>
            </a:extLst>
          </p:cNvPr>
          <p:cNvSpPr/>
          <p:nvPr/>
        </p:nvSpPr>
        <p:spPr>
          <a:xfrm>
            <a:off x="838200" y="5364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 &amp; export</a:t>
            </a:r>
            <a:endParaRPr lang="en-US" sz="1250" dirty="0"/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D3726303-94CA-0804-4089-E4DF535725DD}"/>
              </a:ext>
            </a:extLst>
          </p:cNvPr>
          <p:cNvSpPr/>
          <p:nvPr/>
        </p:nvSpPr>
        <p:spPr>
          <a:xfrm>
            <a:off x="838200" y="5657088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 new transaction file, or export the current flagged queue</a:t>
            </a:r>
            <a:endParaRPr lang="en-US" sz="1050" dirty="0"/>
          </a:p>
        </p:txBody>
      </p:sp>
      <p:sp>
        <p:nvSpPr>
          <p:cNvPr id="62" name="Text 24">
            <a:extLst>
              <a:ext uri="{FF2B5EF4-FFF2-40B4-BE49-F238E27FC236}">
                <a16:creationId xmlns:a16="http://schemas.microsoft.com/office/drawing/2014/main" id="{C628E5CB-E050-50D5-7F44-88BC3985E8D7}"/>
              </a:ext>
            </a:extLst>
          </p:cNvPr>
          <p:cNvSpPr/>
          <p:nvPr/>
        </p:nvSpPr>
        <p:spPr>
          <a:xfrm>
            <a:off x="609600" y="666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Finance Flow  |  Confidential — Internal Stakeholder Review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23303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59D85-CFDB-D5DD-F948-F762C153A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472970-A02D-2AF9-0D42-3D64C63283A3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3F5A1E-9577-AE33-456B-707F5561FC8B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27C28D-31BF-6D76-9A4B-E5C3B28E086E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740A25-F9A2-F0C4-6CFB-9443671601DE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3F3CD1BA-EB30-8EC5-D283-4739DFC1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rgbClr val="C00000"/>
          </a:solidFill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E098C975-7697-F075-8D07-971AC3AD850A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9177678C-2E5F-F05F-285B-702F56FCD39A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A4E88706-2F4C-37D4-2476-B878DED4CD3B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pic>
        <p:nvPicPr>
          <p:cNvPr id="114" name="Image 0" descr="icon_target.png">
            <a:extLst>
              <a:ext uri="{FF2B5EF4-FFF2-40B4-BE49-F238E27FC236}">
                <a16:creationId xmlns:a16="http://schemas.microsoft.com/office/drawing/2014/main" id="{1C55176B-1DAB-BC8F-2B9B-D8741CC96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36" name="Text 10">
            <a:extLst>
              <a:ext uri="{FF2B5EF4-FFF2-40B4-BE49-F238E27FC236}">
                <a16:creationId xmlns:a16="http://schemas.microsoft.com/office/drawing/2014/main" id="{7EE28ACE-B1D6-953B-9A23-B6872A8427F2}"/>
              </a:ext>
            </a:extLst>
          </p:cNvPr>
          <p:cNvSpPr/>
          <p:nvPr/>
        </p:nvSpPr>
        <p:spPr>
          <a:xfrm>
            <a:off x="832104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62" name="Text 24">
            <a:extLst>
              <a:ext uri="{FF2B5EF4-FFF2-40B4-BE49-F238E27FC236}">
                <a16:creationId xmlns:a16="http://schemas.microsoft.com/office/drawing/2014/main" id="{FE061565-06EE-F5A1-58E0-7757F6DE7CB3}"/>
              </a:ext>
            </a:extLst>
          </p:cNvPr>
          <p:cNvSpPr/>
          <p:nvPr/>
        </p:nvSpPr>
        <p:spPr>
          <a:xfrm>
            <a:off x="609600" y="66629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Finance Flow  |  Confidential — Internal Stakeholder Review</a:t>
            </a:r>
            <a:endParaRPr lang="en-US" sz="9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C5447F89-17DB-9A52-097A-09ABA73F2490}"/>
              </a:ext>
            </a:extLst>
          </p:cNvPr>
          <p:cNvSpPr/>
          <p:nvPr/>
        </p:nvSpPr>
        <p:spPr>
          <a:xfrm>
            <a:off x="624840" y="441960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3" name="Image 0" descr="icon_alert_octagon.png">
            <a:extLst>
              <a:ext uri="{FF2B5EF4-FFF2-40B4-BE49-F238E27FC236}">
                <a16:creationId xmlns:a16="http://schemas.microsoft.com/office/drawing/2014/main" id="{C133BA46-3E2F-F413-580F-1E66A9851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903" y="578023"/>
            <a:ext cx="294803" cy="2948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61991D0-E5F9-DEF7-447D-5F65AF2C0C16}"/>
              </a:ext>
            </a:extLst>
          </p:cNvPr>
          <p:cNvSpPr/>
          <p:nvPr/>
        </p:nvSpPr>
        <p:spPr>
          <a:xfrm>
            <a:off x="1493520" y="513588"/>
            <a:ext cx="10515600" cy="489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Risks &amp; Limitations</a:t>
            </a: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20A51107-9B2F-B307-D5BC-C43FA21092BD}"/>
              </a:ext>
            </a:extLst>
          </p:cNvPr>
          <p:cNvSpPr/>
          <p:nvPr/>
        </p:nvSpPr>
        <p:spPr>
          <a:xfrm>
            <a:off x="1493520" y="109118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stakeholders should weigh before approving Scoring model</a:t>
            </a:r>
            <a:endParaRPr lang="en-US" sz="1300" dirty="0"/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4354F6B7-207C-9D8D-6BDE-4E13A2DA87C3}"/>
              </a:ext>
            </a:extLst>
          </p:cNvPr>
          <p:cNvSpPr/>
          <p:nvPr/>
        </p:nvSpPr>
        <p:spPr>
          <a:xfrm>
            <a:off x="667871" y="17678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82477B45-3F2B-7DED-B878-5DFEC474367A}"/>
              </a:ext>
            </a:extLst>
          </p:cNvPr>
          <p:cNvSpPr/>
          <p:nvPr/>
        </p:nvSpPr>
        <p:spPr>
          <a:xfrm>
            <a:off x="990600" y="1840992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historical/synthetic, not live-confirmed fraud</a:t>
            </a:r>
            <a:endParaRPr lang="en-US" sz="125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62038547-C449-38A6-DC5C-4B1DCF7DE164}"/>
              </a:ext>
            </a:extLst>
          </p:cNvPr>
          <p:cNvSpPr/>
          <p:nvPr/>
        </p:nvSpPr>
        <p:spPr>
          <a:xfrm>
            <a:off x="990600" y="21336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on real, live-confirmed fraud may differ until the model is validated against production outcomes.</a:t>
            </a:r>
            <a:endParaRPr lang="en-US" sz="1080" dirty="0"/>
          </a:p>
        </p:txBody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17FB5FA0-4DAD-BA90-B4A0-D6FE5CE74C6A}"/>
              </a:ext>
            </a:extLst>
          </p:cNvPr>
          <p:cNvSpPr/>
          <p:nvPr/>
        </p:nvSpPr>
        <p:spPr>
          <a:xfrm>
            <a:off x="681318" y="2682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C12C94DC-5300-FAB0-BF31-AB303E467ED3}"/>
              </a:ext>
            </a:extLst>
          </p:cNvPr>
          <p:cNvSpPr/>
          <p:nvPr/>
        </p:nvSpPr>
        <p:spPr>
          <a:xfrm>
            <a:off x="990600" y="2755392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action — by design, in this phase</a:t>
            </a:r>
            <a:endParaRPr lang="en-US" sz="125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E422E917-D55E-E957-5047-29A8E4A73179}"/>
              </a:ext>
            </a:extLst>
          </p:cNvPr>
          <p:cNvSpPr/>
          <p:nvPr/>
        </p:nvSpPr>
        <p:spPr>
          <a:xfrm>
            <a:off x="990600" y="30480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scores and prioritizes; it does not block, hold, or step-up verify a transaction. Analyst judgment remains the final decision.</a:t>
            </a:r>
            <a:endParaRPr lang="en-US" sz="1080" dirty="0"/>
          </a:p>
        </p:txBody>
      </p:sp>
      <p:sp>
        <p:nvSpPr>
          <p:cNvPr id="51" name="Shape 9">
            <a:extLst>
              <a:ext uri="{FF2B5EF4-FFF2-40B4-BE49-F238E27FC236}">
                <a16:creationId xmlns:a16="http://schemas.microsoft.com/office/drawing/2014/main" id="{71D0A9DA-3DE0-E9A0-59FF-7ADB80DB09DD}"/>
              </a:ext>
            </a:extLst>
          </p:cNvPr>
          <p:cNvSpPr/>
          <p:nvPr/>
        </p:nvSpPr>
        <p:spPr>
          <a:xfrm>
            <a:off x="681318" y="35966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A340E9FA-0701-03C9-2472-D0BFBA84C3A6}"/>
              </a:ext>
            </a:extLst>
          </p:cNvPr>
          <p:cNvSpPr/>
          <p:nvPr/>
        </p:nvSpPr>
        <p:spPr>
          <a:xfrm>
            <a:off x="990600" y="3669792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pipeline yet</a:t>
            </a:r>
            <a:endParaRPr lang="en-US" sz="1250" dirty="0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F61065D2-2015-5F28-0F09-4DE493C7FA20}"/>
              </a:ext>
            </a:extLst>
          </p:cNvPr>
          <p:cNvSpPr/>
          <p:nvPr/>
        </p:nvSpPr>
        <p:spPr>
          <a:xfrm>
            <a:off x="990600" y="39624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tactics evolve. Without a feedback loop logging analyst outcomes, the model's accuracy will drift over time.</a:t>
            </a:r>
            <a:endParaRPr lang="en-US" sz="1080" dirty="0"/>
          </a:p>
        </p:txBody>
      </p:sp>
      <p:sp>
        <p:nvSpPr>
          <p:cNvPr id="63" name="Shape 12">
            <a:extLst>
              <a:ext uri="{FF2B5EF4-FFF2-40B4-BE49-F238E27FC236}">
                <a16:creationId xmlns:a16="http://schemas.microsoft.com/office/drawing/2014/main" id="{6EEA406F-37A0-8CD5-57D9-D62F234DF999}"/>
              </a:ext>
            </a:extLst>
          </p:cNvPr>
          <p:cNvSpPr/>
          <p:nvPr/>
        </p:nvSpPr>
        <p:spPr>
          <a:xfrm>
            <a:off x="667871" y="45110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13">
            <a:extLst>
              <a:ext uri="{FF2B5EF4-FFF2-40B4-BE49-F238E27FC236}">
                <a16:creationId xmlns:a16="http://schemas.microsoft.com/office/drawing/2014/main" id="{2EA66A4B-0C8D-2690-606F-D7BFA38B30F2}"/>
              </a:ext>
            </a:extLst>
          </p:cNvPr>
          <p:cNvSpPr/>
          <p:nvPr/>
        </p:nvSpPr>
        <p:spPr>
          <a:xfrm>
            <a:off x="990600" y="4584192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Precision/recall is an inherent trade-off</a:t>
            </a:r>
            <a:endParaRPr lang="en-US" sz="1250" dirty="0"/>
          </a:p>
        </p:txBody>
      </p:sp>
      <p:sp>
        <p:nvSpPr>
          <p:cNvPr id="68" name="Text 14">
            <a:extLst>
              <a:ext uri="{FF2B5EF4-FFF2-40B4-BE49-F238E27FC236}">
                <a16:creationId xmlns:a16="http://schemas.microsoft.com/office/drawing/2014/main" id="{D6B6B6A7-7AFD-9D7C-B84F-1AC1EA6A4A2B}"/>
              </a:ext>
            </a:extLst>
          </p:cNvPr>
          <p:cNvSpPr/>
          <p:nvPr/>
        </p:nvSpPr>
        <p:spPr>
          <a:xfrm>
            <a:off x="990600" y="48768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threshold eliminates both missed fraud and false positives — Slide 12's decision is a permanent operating trade-off, not a one-time fix.</a:t>
            </a:r>
            <a:endParaRPr lang="en-US" sz="1080" dirty="0"/>
          </a:p>
        </p:txBody>
      </p:sp>
      <p:sp>
        <p:nvSpPr>
          <p:cNvPr id="70" name="Shape 15">
            <a:extLst>
              <a:ext uri="{FF2B5EF4-FFF2-40B4-BE49-F238E27FC236}">
                <a16:creationId xmlns:a16="http://schemas.microsoft.com/office/drawing/2014/main" id="{86EDC096-96E0-8462-69B4-5BC601E63454}"/>
              </a:ext>
            </a:extLst>
          </p:cNvPr>
          <p:cNvSpPr/>
          <p:nvPr/>
        </p:nvSpPr>
        <p:spPr>
          <a:xfrm>
            <a:off x="694765" y="54254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2" name="Text 16">
            <a:extLst>
              <a:ext uri="{FF2B5EF4-FFF2-40B4-BE49-F238E27FC236}">
                <a16:creationId xmlns:a16="http://schemas.microsoft.com/office/drawing/2014/main" id="{409F0D9A-B22B-0EC5-56E1-75FA1023BC4E}"/>
              </a:ext>
            </a:extLst>
          </p:cNvPr>
          <p:cNvSpPr/>
          <p:nvPr/>
        </p:nvSpPr>
        <p:spPr>
          <a:xfrm>
            <a:off x="990600" y="5498592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1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connected to live payment systems</a:t>
            </a:r>
            <a:endParaRPr lang="en-US" sz="1250" dirty="0"/>
          </a:p>
        </p:txBody>
      </p:sp>
      <p:sp>
        <p:nvSpPr>
          <p:cNvPr id="74" name="Text 17">
            <a:extLst>
              <a:ext uri="{FF2B5EF4-FFF2-40B4-BE49-F238E27FC236}">
                <a16:creationId xmlns:a16="http://schemas.microsoft.com/office/drawing/2014/main" id="{BD30A3D5-CFBD-8FF1-4F8A-EB21D8D4CF20}"/>
              </a:ext>
            </a:extLst>
          </p:cNvPr>
          <p:cNvSpPr/>
          <p:nvPr/>
        </p:nvSpPr>
        <p:spPr>
          <a:xfrm>
            <a:off x="990600" y="5791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scoring prototype validated on historical data; production integration, load-testing, and latency validation are separate next-phase work.</a:t>
            </a:r>
            <a:endParaRPr lang="en-US" sz="1080" dirty="0"/>
          </a:p>
        </p:txBody>
      </p:sp>
      <p:sp>
        <p:nvSpPr>
          <p:cNvPr id="76" name="Text 18">
            <a:extLst>
              <a:ext uri="{FF2B5EF4-FFF2-40B4-BE49-F238E27FC236}">
                <a16:creationId xmlns:a16="http://schemas.microsoft.com/office/drawing/2014/main" id="{56170435-1845-48C0-33CA-9DFBE9F3EF58}"/>
              </a:ext>
            </a:extLst>
          </p:cNvPr>
          <p:cNvSpPr/>
          <p:nvPr/>
        </p:nvSpPr>
        <p:spPr>
          <a:xfrm>
            <a:off x="762000" y="68153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Finance Flow  |  Confidential — Internal Stakeholder Review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670778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B806A-9B82-3E04-9C4E-6AC057AA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4201F2-1415-04CD-41D0-239413D90154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C8865-43E2-E38C-D4C8-3DC6EA8A3BF9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388F350-8135-3A0D-4BFE-E56213F343C4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EE4F572-F4EC-3D76-AF61-D217DFA77845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41678A0D-D8F6-FD25-8D23-28F657CAC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/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6B55CB21-D3B0-86FC-C346-098FE14B967C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34AF8173-A0FC-16F7-A8D1-440357B053C7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F49882DE-2680-9FA6-3B0F-CDF1C0DAB704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pic>
        <p:nvPicPr>
          <p:cNvPr id="114" name="Image 0" descr="icon_target.png">
            <a:extLst>
              <a:ext uri="{FF2B5EF4-FFF2-40B4-BE49-F238E27FC236}">
                <a16:creationId xmlns:a16="http://schemas.microsoft.com/office/drawing/2014/main" id="{0D83F3C1-9E09-65B4-7AEF-A7703EF97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36" name="Text 10">
            <a:extLst>
              <a:ext uri="{FF2B5EF4-FFF2-40B4-BE49-F238E27FC236}">
                <a16:creationId xmlns:a16="http://schemas.microsoft.com/office/drawing/2014/main" id="{9F4A99BD-5C78-0676-31B5-0B54D8FD3CC8}"/>
              </a:ext>
            </a:extLst>
          </p:cNvPr>
          <p:cNvSpPr/>
          <p:nvPr/>
        </p:nvSpPr>
        <p:spPr>
          <a:xfrm>
            <a:off x="832104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F34F2950-B6EA-C400-2F42-EB6882D0E501}"/>
              </a:ext>
            </a:extLst>
          </p:cNvPr>
          <p:cNvSpPr/>
          <p:nvPr/>
        </p:nvSpPr>
        <p:spPr>
          <a:xfrm>
            <a:off x="593263" y="412578"/>
            <a:ext cx="566928" cy="566928"/>
          </a:xfrm>
          <a:prstGeom prst="ellipse">
            <a:avLst/>
          </a:prstGeom>
          <a:solidFill>
            <a:srgbClr val="E15B4D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0" descr="icon_flag.png">
            <a:extLst>
              <a:ext uri="{FF2B5EF4-FFF2-40B4-BE49-F238E27FC236}">
                <a16:creationId xmlns:a16="http://schemas.microsoft.com/office/drawing/2014/main" id="{ABA9E851-EBA1-81BE-4EE9-55D80BCA5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26" y="548641"/>
            <a:ext cx="294803" cy="294803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78E6EBD0-3C35-F170-E180-98FD61C4F7EA}"/>
              </a:ext>
            </a:extLst>
          </p:cNvPr>
          <p:cNvSpPr/>
          <p:nvPr/>
        </p:nvSpPr>
        <p:spPr>
          <a:xfrm>
            <a:off x="1463040" y="478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Recommendation &amp; Decisions Needed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F287569C-F8C0-53AE-C31A-151744ACA2D2}"/>
              </a:ext>
            </a:extLst>
          </p:cNvPr>
          <p:cNvSpPr/>
          <p:nvPr/>
        </p:nvSpPr>
        <p:spPr>
          <a:xfrm>
            <a:off x="1463040" y="97399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Three concrete approvals to move from prototype to production pilot</a:t>
            </a:r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9E678C1B-DF95-3FF3-7200-ACA9D6EC3F1C}"/>
              </a:ext>
            </a:extLst>
          </p:cNvPr>
          <p:cNvSpPr/>
          <p:nvPr/>
        </p:nvSpPr>
        <p:spPr>
          <a:xfrm>
            <a:off x="914400" y="1874520"/>
            <a:ext cx="3456432" cy="3931920"/>
          </a:xfrm>
          <a:prstGeom prst="roundRect">
            <a:avLst>
              <a:gd name="adj" fmla="val 2278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ADFBA72B-DEF2-5D1C-AC6F-134BD49F96F0}"/>
              </a:ext>
            </a:extLst>
          </p:cNvPr>
          <p:cNvSpPr/>
          <p:nvPr/>
        </p:nvSpPr>
        <p:spPr>
          <a:xfrm>
            <a:off x="1188720" y="2148840"/>
            <a:ext cx="548640" cy="548640"/>
          </a:xfrm>
          <a:prstGeom prst="ellipse">
            <a:avLst/>
          </a:prstGeom>
          <a:solidFill>
            <a:srgbClr val="E15B4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521FC963-585B-4E18-CE64-DA1C98FB4A07}"/>
              </a:ext>
            </a:extLst>
          </p:cNvPr>
          <p:cNvSpPr/>
          <p:nvPr/>
        </p:nvSpPr>
        <p:spPr>
          <a:xfrm>
            <a:off x="118872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B8F96769-0F65-DD7B-E654-9D1169F219D2}"/>
              </a:ext>
            </a:extLst>
          </p:cNvPr>
          <p:cNvSpPr/>
          <p:nvPr/>
        </p:nvSpPr>
        <p:spPr>
          <a:xfrm>
            <a:off x="1188720" y="28803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production model</a:t>
            </a:r>
            <a:endParaRPr lang="en-US" sz="15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44DD91B3-832C-48D1-3904-68AE842FD4ED}"/>
              </a:ext>
            </a:extLst>
          </p:cNvPr>
          <p:cNvSpPr/>
          <p:nvPr/>
        </p:nvSpPr>
        <p:spPr>
          <a:xfrm>
            <a:off x="1188720" y="361188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Regression, tuned to a 0.935 decision threshold, moves behind a live transaction-scoring endpoint.</a:t>
            </a:r>
            <a:endParaRPr lang="en-US" sz="1200" dirty="0"/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45017A74-6E07-0F0B-AB67-D1635505537D}"/>
              </a:ext>
            </a:extLst>
          </p:cNvPr>
          <p:cNvSpPr/>
          <p:nvPr/>
        </p:nvSpPr>
        <p:spPr>
          <a:xfrm>
            <a:off x="4727448" y="1874520"/>
            <a:ext cx="3456432" cy="3931920"/>
          </a:xfrm>
          <a:prstGeom prst="roundRect">
            <a:avLst>
              <a:gd name="adj" fmla="val 2278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0" name="Shape 9">
            <a:extLst>
              <a:ext uri="{FF2B5EF4-FFF2-40B4-BE49-F238E27FC236}">
                <a16:creationId xmlns:a16="http://schemas.microsoft.com/office/drawing/2014/main" id="{AE4D8BEC-98A9-F023-707E-A7044AD279CE}"/>
              </a:ext>
            </a:extLst>
          </p:cNvPr>
          <p:cNvSpPr/>
          <p:nvPr/>
        </p:nvSpPr>
        <p:spPr>
          <a:xfrm>
            <a:off x="5001768" y="2148840"/>
            <a:ext cx="548640" cy="548640"/>
          </a:xfrm>
          <a:prstGeom prst="ellipse">
            <a:avLst/>
          </a:prstGeom>
          <a:solidFill>
            <a:srgbClr val="E15B4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642927A0-B6CA-A270-9D5B-CDA7D79E5149}"/>
              </a:ext>
            </a:extLst>
          </p:cNvPr>
          <p:cNvSpPr/>
          <p:nvPr/>
        </p:nvSpPr>
        <p:spPr>
          <a:xfrm>
            <a:off x="5001768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D898584F-C182-3D45-1C4F-B76636053D63}"/>
              </a:ext>
            </a:extLst>
          </p:cNvPr>
          <p:cNvSpPr/>
          <p:nvPr/>
        </p:nvSpPr>
        <p:spPr>
          <a:xfrm>
            <a:off x="5001768" y="28803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initial operating threshold</a:t>
            </a:r>
            <a:endParaRPr lang="en-US" sz="1500" dirty="0"/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3431A289-121F-6D04-1EB8-097485776F5F}"/>
              </a:ext>
            </a:extLst>
          </p:cNvPr>
          <p:cNvSpPr/>
          <p:nvPr/>
        </p:nvSpPr>
        <p:spPr>
          <a:xfrm>
            <a:off x="5001768" y="361188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team selects 70 / 80 / 90% recall (Slide 12) based on current analyst review capacity — adjustable later.</a:t>
            </a:r>
            <a:endParaRPr lang="en-US" sz="1200" dirty="0"/>
          </a:p>
        </p:txBody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2D628A80-CCDC-DE6D-81A4-10A6E895BD13}"/>
              </a:ext>
            </a:extLst>
          </p:cNvPr>
          <p:cNvSpPr/>
          <p:nvPr/>
        </p:nvSpPr>
        <p:spPr>
          <a:xfrm>
            <a:off x="8540496" y="1874520"/>
            <a:ext cx="3291840" cy="3931920"/>
          </a:xfrm>
          <a:prstGeom prst="roundRect">
            <a:avLst>
              <a:gd name="adj" fmla="val 2278"/>
            </a:avLst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63842811-589A-E3C9-3B7A-2CC379548FF1}"/>
              </a:ext>
            </a:extLst>
          </p:cNvPr>
          <p:cNvSpPr/>
          <p:nvPr/>
        </p:nvSpPr>
        <p:spPr>
          <a:xfrm>
            <a:off x="8814816" y="2148840"/>
            <a:ext cx="548640" cy="548640"/>
          </a:xfrm>
          <a:prstGeom prst="ellipse">
            <a:avLst/>
          </a:prstGeom>
          <a:solidFill>
            <a:srgbClr val="E15B4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53C311CF-1BED-C984-C0BE-14233703D3E1}"/>
              </a:ext>
            </a:extLst>
          </p:cNvPr>
          <p:cNvSpPr/>
          <p:nvPr/>
        </p:nvSpPr>
        <p:spPr>
          <a:xfrm>
            <a:off x="8814816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0EA32D32-86F4-B657-CCA6-6D7A76AFCD76}"/>
              </a:ext>
            </a:extLst>
          </p:cNvPr>
          <p:cNvSpPr/>
          <p:nvPr/>
        </p:nvSpPr>
        <p:spPr>
          <a:xfrm>
            <a:off x="8814816" y="28803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Phase 2</a:t>
            </a:r>
            <a:endParaRPr lang="en-US" sz="150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CC762182-FCCB-D4C6-5BA6-9DB5FB4717F9}"/>
              </a:ext>
            </a:extLst>
          </p:cNvPr>
          <p:cNvSpPr/>
          <p:nvPr/>
        </p:nvSpPr>
        <p:spPr>
          <a:xfrm>
            <a:off x="8814816" y="361188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integration, an analyst feedback loop for retraining, and a periodic model-refresh cadence (Slide 16).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4026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A9A4E-DF13-B270-B646-D830FBA14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9E3E628-0FBD-82E5-31FF-7150A04B177C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9C52440-4FC5-7416-7D9B-914E37ADE6C5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F16B4C8-B24F-7C0D-A6F0-2F1438B0EFE9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6E2AF98-D873-C4EA-9DD7-5D234FA6146F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" name="SK-5-img-3">
            <a:extLst>
              <a:ext uri="{FF2B5EF4-FFF2-40B4-BE49-F238E27FC236}">
                <a16:creationId xmlns:a16="http://schemas.microsoft.com/office/drawing/2014/main" id="{18E9E967-3D8D-4295-D9A2-D32AB0FDA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42" y="1133584"/>
            <a:ext cx="822871" cy="476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/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CAE15D5-7BA3-7269-8077-7627B268100B}"/>
              </a:ext>
            </a:extLst>
          </p:cNvPr>
          <p:cNvSpPr/>
          <p:nvPr/>
        </p:nvSpPr>
        <p:spPr>
          <a:xfrm>
            <a:off x="8458200" y="1554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</a:t>
            </a:r>
            <a:endParaRPr lang="en-US" sz="13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6DCC7773-61B6-9513-E6C9-2B97EBDCB462}"/>
              </a:ext>
            </a:extLst>
          </p:cNvPr>
          <p:cNvSpPr/>
          <p:nvPr/>
        </p:nvSpPr>
        <p:spPr>
          <a:xfrm>
            <a:off x="8458200" y="19202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ranked 4th out of 7 at the default threshold. Once every model gets its own F1-optimal cutoff, it jumps to #1 — ahead of every more complex technique, including the ensemble.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1A78909-1709-288C-0601-FAFE6D82F0FC}"/>
              </a:ext>
            </a:extLst>
          </p:cNvPr>
          <p:cNvSpPr/>
          <p:nvPr/>
        </p:nvSpPr>
        <p:spPr>
          <a:xfrm>
            <a:off x="845820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0.935</a:t>
            </a:r>
            <a:endParaRPr lang="en-US" sz="3200" dirty="0"/>
          </a:p>
        </p:txBody>
      </p:sp>
      <p:pic>
        <p:nvPicPr>
          <p:cNvPr id="114" name="Image 0" descr="icon_target.png">
            <a:extLst>
              <a:ext uri="{FF2B5EF4-FFF2-40B4-BE49-F238E27FC236}">
                <a16:creationId xmlns:a16="http://schemas.microsoft.com/office/drawing/2014/main" id="{FA2E5394-3231-5678-F569-A94835B12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36" name="Text 10">
            <a:extLst>
              <a:ext uri="{FF2B5EF4-FFF2-40B4-BE49-F238E27FC236}">
                <a16:creationId xmlns:a16="http://schemas.microsoft.com/office/drawing/2014/main" id="{FCB59874-174A-7583-D1E5-3D1B6A4D066C}"/>
              </a:ext>
            </a:extLst>
          </p:cNvPr>
          <p:cNvSpPr/>
          <p:nvPr/>
        </p:nvSpPr>
        <p:spPr>
          <a:xfrm>
            <a:off x="8321040" y="3749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25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5E17768D-86B1-D58B-16BE-BDCAD0701952}"/>
              </a:ext>
            </a:extLst>
          </p:cNvPr>
          <p:cNvSpPr/>
          <p:nvPr/>
        </p:nvSpPr>
        <p:spPr>
          <a:xfrm>
            <a:off x="1188720" y="28803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production model</a:t>
            </a:r>
            <a:endParaRPr lang="en-US" sz="15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D7A323A6-5E38-02FF-D698-689130F2A617}"/>
              </a:ext>
            </a:extLst>
          </p:cNvPr>
          <p:cNvSpPr/>
          <p:nvPr/>
        </p:nvSpPr>
        <p:spPr>
          <a:xfrm>
            <a:off x="5001768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CCA319CB-A0A0-B373-0F62-90F831F06510}"/>
              </a:ext>
            </a:extLst>
          </p:cNvPr>
          <p:cNvSpPr/>
          <p:nvPr/>
        </p:nvSpPr>
        <p:spPr>
          <a:xfrm>
            <a:off x="5001768" y="28803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initial operating threshold</a:t>
            </a:r>
            <a:endParaRPr lang="en-US" sz="15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1C017A6-8BF1-10AE-309C-5133B43CF411}"/>
              </a:ext>
            </a:extLst>
          </p:cNvPr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2" name="Image 0" descr="icon_map.png">
            <a:extLst>
              <a:ext uri="{FF2B5EF4-FFF2-40B4-BE49-F238E27FC236}">
                <a16:creationId xmlns:a16="http://schemas.microsoft.com/office/drawing/2014/main" id="{D2745AA0-0DAB-F6A7-F86A-FD1DA4568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63" y="547543"/>
            <a:ext cx="294803" cy="294803"/>
          </a:xfrm>
          <a:prstGeom prst="rect">
            <a:avLst/>
          </a:prstGeom>
        </p:spPr>
      </p:pic>
      <p:sp>
        <p:nvSpPr>
          <p:cNvPr id="14" name="Text 1">
            <a:extLst>
              <a:ext uri="{FF2B5EF4-FFF2-40B4-BE49-F238E27FC236}">
                <a16:creationId xmlns:a16="http://schemas.microsoft.com/office/drawing/2014/main" id="{7DE9C662-956D-2CDD-B3CC-C357700216CB}"/>
              </a:ext>
            </a:extLst>
          </p:cNvPr>
          <p:cNvSpPr/>
          <p:nvPr/>
        </p:nvSpPr>
        <p:spPr>
          <a:xfrm>
            <a:off x="1348153" y="496855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Recommended Roadmap</a:t>
            </a:r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21EA092F-E18D-1290-5FAA-E3147B49CA4C}"/>
              </a:ext>
            </a:extLst>
          </p:cNvPr>
          <p:cNvSpPr/>
          <p:nvPr/>
        </p:nvSpPr>
        <p:spPr>
          <a:xfrm>
            <a:off x="1348153" y="1013579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validated prototype to a fraud-monitoring capability</a:t>
            </a:r>
            <a:endParaRPr lang="en-US" sz="1300" dirty="0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29CBEE16-FA17-5F39-3436-2509D1090C54}"/>
              </a:ext>
            </a:extLst>
          </p:cNvPr>
          <p:cNvSpPr/>
          <p:nvPr/>
        </p:nvSpPr>
        <p:spPr>
          <a:xfrm>
            <a:off x="457200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07D53CF7-B2D1-4ECE-9FFF-4F35823C8EBB}"/>
              </a:ext>
            </a:extLst>
          </p:cNvPr>
          <p:cNvSpPr/>
          <p:nvPr/>
        </p:nvSpPr>
        <p:spPr>
          <a:xfrm>
            <a:off x="457200" y="14173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Complete</a:t>
            </a:r>
            <a:endParaRPr lang="en-US" sz="13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6F7C5CC1-7302-B94D-706C-5D0048350EF3}"/>
              </a:ext>
            </a:extLst>
          </p:cNvPr>
          <p:cNvSpPr/>
          <p:nvPr/>
        </p:nvSpPr>
        <p:spPr>
          <a:xfrm>
            <a:off x="457200" y="2057400"/>
            <a:ext cx="3611880" cy="356616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9BA5D21F-4C70-485B-B294-583443AA2312}"/>
              </a:ext>
            </a:extLst>
          </p:cNvPr>
          <p:cNvSpPr/>
          <p:nvPr/>
        </p:nvSpPr>
        <p:spPr>
          <a:xfrm>
            <a:off x="685800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EDA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development &amp; benchmarking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review-queue dashboard</a:t>
            </a:r>
            <a:endParaRPr lang="en-US" sz="1150" dirty="0"/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4CFD6576-2EFB-D2A0-BA0E-2D1E060BB839}"/>
              </a:ext>
            </a:extLst>
          </p:cNvPr>
          <p:cNvSpPr/>
          <p:nvPr/>
        </p:nvSpPr>
        <p:spPr>
          <a:xfrm>
            <a:off x="4270248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2C387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1468B57E-B479-9133-8E26-BDEE2506F8DE}"/>
              </a:ext>
            </a:extLst>
          </p:cNvPr>
          <p:cNvSpPr/>
          <p:nvPr/>
        </p:nvSpPr>
        <p:spPr>
          <a:xfrm>
            <a:off x="4270248" y="14173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Next (proposed)</a:t>
            </a:r>
            <a:endParaRPr lang="en-US" sz="1300" dirty="0"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90794F64-48A3-457D-D91F-FFAD4E89B3DC}"/>
              </a:ext>
            </a:extLst>
          </p:cNvPr>
          <p:cNvSpPr/>
          <p:nvPr/>
        </p:nvSpPr>
        <p:spPr>
          <a:xfrm>
            <a:off x="4270248" y="2057400"/>
            <a:ext cx="3611880" cy="356616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46" name="Text 10">
            <a:extLst>
              <a:ext uri="{FF2B5EF4-FFF2-40B4-BE49-F238E27FC236}">
                <a16:creationId xmlns:a16="http://schemas.microsoft.com/office/drawing/2014/main" id="{F304C072-E801-1134-EF2D-1D8522584394}"/>
              </a:ext>
            </a:extLst>
          </p:cNvPr>
          <p:cNvSpPr/>
          <p:nvPr/>
        </p:nvSpPr>
        <p:spPr>
          <a:xfrm>
            <a:off x="4498848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model behind a scoring endpoint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scores into live analyst workflow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initial operating threshold with risk team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Shadow-mode validation against current rules</a:t>
            </a:r>
            <a:endParaRPr lang="en-US" sz="1150" dirty="0"/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F9FBC159-2B04-8C11-B0F3-2DA45DAF86D2}"/>
              </a:ext>
            </a:extLst>
          </p:cNvPr>
          <p:cNvSpPr/>
          <p:nvPr/>
        </p:nvSpPr>
        <p:spPr>
          <a:xfrm>
            <a:off x="8083296" y="141732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C000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38CA4453-262A-A6FB-AD94-0B88533DE67A}"/>
              </a:ext>
            </a:extLst>
          </p:cNvPr>
          <p:cNvSpPr/>
          <p:nvPr/>
        </p:nvSpPr>
        <p:spPr>
          <a:xfrm>
            <a:off x="8083296" y="14173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Future</a:t>
            </a:r>
            <a:endParaRPr lang="en-US" sz="1300" dirty="0"/>
          </a:p>
        </p:txBody>
      </p:sp>
      <p:sp>
        <p:nvSpPr>
          <p:cNvPr id="55" name="Shape 13">
            <a:extLst>
              <a:ext uri="{FF2B5EF4-FFF2-40B4-BE49-F238E27FC236}">
                <a16:creationId xmlns:a16="http://schemas.microsoft.com/office/drawing/2014/main" id="{3FEBCF80-1096-96DE-100B-97F2198EBC61}"/>
              </a:ext>
            </a:extLst>
          </p:cNvPr>
          <p:cNvSpPr/>
          <p:nvPr/>
        </p:nvSpPr>
        <p:spPr>
          <a:xfrm>
            <a:off x="8083296" y="2057400"/>
            <a:ext cx="3611880" cy="356616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C7E4848D-6945-0645-93C7-FADA37D4581D}"/>
              </a:ext>
            </a:extLst>
          </p:cNvPr>
          <p:cNvSpPr/>
          <p:nvPr/>
        </p:nvSpPr>
        <p:spPr>
          <a:xfrm>
            <a:off x="8311896" y="224028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analyst outcomes (confirmed fraud vs. false positive)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analyst feedback &amp; retraining pipeline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periodic retraining cadence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auth &amp; production hardening</a:t>
            </a:r>
            <a:endParaRPr lang="en-US" sz="1150" dirty="0"/>
          </a:p>
        </p:txBody>
      </p:sp>
      <p:sp>
        <p:nvSpPr>
          <p:cNvPr id="64" name="Text 16">
            <a:extLst>
              <a:ext uri="{FF2B5EF4-FFF2-40B4-BE49-F238E27FC236}">
                <a16:creationId xmlns:a16="http://schemas.microsoft.com/office/drawing/2014/main" id="{5E7346EF-2314-D9CD-4787-4229AE5BD125}"/>
              </a:ext>
            </a:extLst>
          </p:cNvPr>
          <p:cNvSpPr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99500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2B8FE-F2F3-FA0C-5D99-9AE675E64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B5F5C5-9169-B4B3-DB13-8D7430732197}"/>
              </a:ext>
            </a:extLst>
          </p:cNvPr>
          <p:cNvSpPr/>
          <p:nvPr/>
        </p:nvSpPr>
        <p:spPr>
          <a:xfrm>
            <a:off x="123092" y="123091"/>
            <a:ext cx="11939954" cy="6611817"/>
          </a:xfrm>
          <a:prstGeom prst="roundRect">
            <a:avLst>
              <a:gd name="adj" fmla="val 150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558880-EF19-ACB2-E3BA-CC72516A575A}"/>
              </a:ext>
            </a:extLst>
          </p:cNvPr>
          <p:cNvSpPr/>
          <p:nvPr/>
        </p:nvSpPr>
        <p:spPr>
          <a:xfrm>
            <a:off x="199292" y="123091"/>
            <a:ext cx="11787554" cy="6611817"/>
          </a:xfrm>
          <a:prstGeom prst="roundRect">
            <a:avLst>
              <a:gd name="adj" fmla="val 150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563EAA3-02D9-66F3-85F0-53140F0E8CDD}"/>
              </a:ext>
            </a:extLst>
          </p:cNvPr>
          <p:cNvSpPr/>
          <p:nvPr/>
        </p:nvSpPr>
        <p:spPr>
          <a:xfrm>
            <a:off x="246180" y="211013"/>
            <a:ext cx="5890847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465A78-8ED2-D0DC-70F3-95440F301D67}"/>
              </a:ext>
            </a:extLst>
          </p:cNvPr>
          <p:cNvSpPr/>
          <p:nvPr/>
        </p:nvSpPr>
        <p:spPr>
          <a:xfrm>
            <a:off x="5972907" y="6559059"/>
            <a:ext cx="5890846" cy="87923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35" name="SK-5-text-17">
            <a:extLst>
              <a:ext uri="{FF2B5EF4-FFF2-40B4-BE49-F238E27FC236}">
                <a16:creationId xmlns:a16="http://schemas.microsoft.com/office/drawing/2014/main" id="{56142008-F5C9-BCE4-8A3C-DF4DD2DF922E}"/>
              </a:ext>
            </a:extLst>
          </p:cNvPr>
          <p:cNvSpPr/>
          <p:nvPr/>
        </p:nvSpPr>
        <p:spPr>
          <a:xfrm>
            <a:off x="10689915" y="6436103"/>
            <a:ext cx="1250038" cy="12295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00" dirty="0" err="1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Finlora</a:t>
            </a:r>
            <a:r>
              <a:rPr lang="en-US" sz="90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Risk-Scoring</a:t>
            </a:r>
            <a:endParaRPr lang="en-US" sz="90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7552E663-93F8-8B9D-ED63-03160CF9469B}"/>
              </a:ext>
            </a:extLst>
          </p:cNvPr>
          <p:cNvSpPr/>
          <p:nvPr/>
        </p:nvSpPr>
        <p:spPr>
          <a:xfrm>
            <a:off x="8210807" y="1789813"/>
            <a:ext cx="3079242" cy="109248"/>
          </a:xfrm>
          <a:prstGeom prst="roundRect">
            <a:avLst>
              <a:gd name="adj" fmla="val 4390"/>
            </a:avLst>
          </a:prstGeom>
          <a:solidFill>
            <a:srgbClr val="C00000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05F27744-7A9C-E685-762D-DEBD7AC2A511}"/>
              </a:ext>
            </a:extLst>
          </p:cNvPr>
          <p:cNvSpPr/>
          <p:nvPr/>
        </p:nvSpPr>
        <p:spPr>
          <a:xfrm>
            <a:off x="551987" y="1899061"/>
            <a:ext cx="10738061" cy="3125555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2ED0BAF4-825A-F370-5EC1-DC1C897EB792}"/>
              </a:ext>
            </a:extLst>
          </p:cNvPr>
          <p:cNvSpPr/>
          <p:nvPr/>
        </p:nvSpPr>
        <p:spPr>
          <a:xfrm>
            <a:off x="3656538" y="1788816"/>
            <a:ext cx="4554269" cy="83215"/>
          </a:xfrm>
          <a:prstGeom prst="roundRect">
            <a:avLst>
              <a:gd name="adj" fmla="val 4390"/>
            </a:avLst>
          </a:prstGeom>
          <a:solidFill>
            <a:schemeClr val="accent6">
              <a:lumMod val="75000"/>
            </a:schemeClr>
          </a:solidFill>
          <a:ln w="12700">
            <a:solidFill>
              <a:srgbClr val="E4E9F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CB03063-C4E8-F932-4FC5-2C4DFAF02A86}"/>
              </a:ext>
            </a:extLst>
          </p:cNvPr>
          <p:cNvSpPr/>
          <p:nvPr/>
        </p:nvSpPr>
        <p:spPr>
          <a:xfrm>
            <a:off x="551987" y="1765820"/>
            <a:ext cx="3104551" cy="67565"/>
          </a:xfrm>
          <a:prstGeom prst="roundRect">
            <a:avLst>
              <a:gd name="adj" fmla="val 4390"/>
            </a:avLst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rgbClr val="002060"/>
            </a:solidFill>
            <a:prstDash val="solid"/>
          </a:ln>
          <a:effectLst>
            <a:outerShdw blurRad="88900" dist="25400" dir="5400000" algn="bl" rotWithShape="0">
              <a:srgbClr val="9AA6B8">
                <a:alpha val="28000"/>
              </a:srgbClr>
            </a:outerShdw>
          </a:effectLst>
        </p:spPr>
        <p:txBody>
          <a:bodyPr/>
          <a:lstStyle/>
          <a:p>
            <a:endParaRPr lang="en-GB" sz="200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A57DF1F-0432-6339-4EE7-97962D3EFBD0}"/>
              </a:ext>
            </a:extLst>
          </p:cNvPr>
          <p:cNvSpPr/>
          <p:nvPr/>
        </p:nvSpPr>
        <p:spPr>
          <a:xfrm>
            <a:off x="5314278" y="344249"/>
            <a:ext cx="1371600" cy="13716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/>
        </p:spPr>
        <p:txBody>
          <a:bodyPr/>
          <a:lstStyle/>
          <a:p>
            <a:endParaRPr lang="en-GB" sz="1400" b="1">
              <a:solidFill>
                <a:srgbClr val="6B7686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6" name="Image 0" descr="icon_users.png">
            <a:extLst>
              <a:ext uri="{FF2B5EF4-FFF2-40B4-BE49-F238E27FC236}">
                <a16:creationId xmlns:a16="http://schemas.microsoft.com/office/drawing/2014/main" id="{93DE06FA-BEAF-E3EA-45A3-C67B71013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178" y="687149"/>
            <a:ext cx="685800" cy="685800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73FAE239-58B8-D61A-23B5-FF624E3475D4}"/>
              </a:ext>
            </a:extLst>
          </p:cNvPr>
          <p:cNvSpPr/>
          <p:nvPr/>
        </p:nvSpPr>
        <p:spPr>
          <a:xfrm>
            <a:off x="833718" y="1990169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A3F"/>
                </a:solidFill>
                <a:latin typeface="Montserrat" pitchFamily="34" charset="0"/>
              </a:rPr>
              <a:t>Questions &amp; Discussion</a:t>
            </a:r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3B740ECD-75C0-1256-B9BF-4CE5FD447904}"/>
              </a:ext>
            </a:extLst>
          </p:cNvPr>
          <p:cNvSpPr/>
          <p:nvPr/>
        </p:nvSpPr>
        <p:spPr>
          <a:xfrm>
            <a:off x="833718" y="2675969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cs typeface="Calibri" pitchFamily="34" charset="-120"/>
              </a:rPr>
              <a:t>Full notebook, model comparison results, and dashboard source are available for technical review.</a:t>
            </a: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B0806C73-8839-417E-4BB2-104C237E3322}"/>
              </a:ext>
            </a:extLst>
          </p:cNvPr>
          <p:cNvSpPr/>
          <p:nvPr/>
        </p:nvSpPr>
        <p:spPr>
          <a:xfrm>
            <a:off x="833718" y="3727529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Finlora Analytics  •  Transaction Risk Scoring Prototype</a:t>
            </a:r>
            <a:endParaRPr lang="en-US" sz="1100" dirty="0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E64CA177-D6DD-5BAF-D9A2-439CEA8F14B5}"/>
              </a:ext>
            </a:extLst>
          </p:cNvPr>
          <p:cNvSpPr/>
          <p:nvPr/>
        </p:nvSpPr>
        <p:spPr>
          <a:xfrm>
            <a:off x="11166438" y="5300297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E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5271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9" grpId="0" animBg="1"/>
      <p:bldP spid="3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4642</TotalTime>
  <Words>2522</Words>
  <Application>Microsoft Office PowerPoint</Application>
  <PresentationFormat>Widescreen</PresentationFormat>
  <Paragraphs>372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</vt:lpstr>
      <vt:lpstr>Inter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Lucius Njoku</dc:creator>
  <cp:lastModifiedBy>Lucius Njoku</cp:lastModifiedBy>
  <cp:revision>33</cp:revision>
  <dcterms:created xsi:type="dcterms:W3CDTF">2026-09-29T07:04:13Z</dcterms:created>
  <dcterms:modified xsi:type="dcterms:W3CDTF">2026-10-03T09:35:12Z</dcterms:modified>
</cp:coreProperties>
</file>